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7" r:id="rId2"/>
    <p:sldId id="258" r:id="rId3"/>
    <p:sldId id="259" r:id="rId4"/>
    <p:sldId id="261" r:id="rId5"/>
    <p:sldId id="262" r:id="rId6"/>
    <p:sldId id="265" r:id="rId7"/>
    <p:sldId id="266" r:id="rId8"/>
    <p:sldId id="263" r:id="rId9"/>
    <p:sldId id="264" r:id="rId10"/>
    <p:sldId id="267" r:id="rId11"/>
    <p:sldId id="268" r:id="rId12"/>
    <p:sldId id="269" r:id="rId13"/>
  </p:sldIdLst>
  <p:sldSz cx="9144000" cy="6858000" type="screen4x3"/>
  <p:notesSz cx="6858000" cy="9144000"/>
  <p:defaultTextStyle>
    <a:defPPr>
      <a:defRPr lang="it-IT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4" d="100"/>
          <a:sy n="64" d="100"/>
        </p:scale>
        <p:origin x="1482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B3AC5C-49EA-8C43-A1F1-4AE9F44B070A}" type="datetimeFigureOut">
              <a:rPr lang="it-IT" smtClean="0"/>
              <a:t>01/04/2019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5C8C2B-EA7C-9543-B805-0B5BC93E4FF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29996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C8C2B-EA7C-9543-B805-0B5BC93E4FF7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253623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Ogni riga è selezionabile e</a:t>
            </a:r>
            <a:r>
              <a:rPr lang="it-IT" baseline="0" dirty="0"/>
              <a:t> dà accesso al singolo record.</a:t>
            </a:r>
          </a:p>
          <a:p>
            <a:r>
              <a:rPr lang="it-IT" baseline="0" dirty="0"/>
              <a:t>Una tabella espone TUTTI i record a cui l’utente è abilitato e relativi alla voce selezionata sul menu di </a:t>
            </a:r>
            <a:r>
              <a:rPr lang="it-IT" baseline="0" dirty="0" err="1"/>
              <a:t>sx</a:t>
            </a:r>
            <a:r>
              <a:rPr lang="it-IT" baseline="0" dirty="0"/>
              <a:t> (previo eventuale filtro attivo).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C8C2B-EA7C-9543-B805-0B5BC93E4FF7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27677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230D5F-A28A-9D43-B05A-DDA8B16E939A}" type="datetimeFigureOut">
              <a:rPr lang="it-IT" smtClean="0"/>
              <a:t>01/04/2019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D010B-0BA5-CA41-ABDD-7D9A9BA0872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90672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230D5F-A28A-9D43-B05A-DDA8B16E939A}" type="datetimeFigureOut">
              <a:rPr lang="it-IT" smtClean="0"/>
              <a:t>01/04/2019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D010B-0BA5-CA41-ABDD-7D9A9BA0872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744635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it-IT"/>
              <a:t>Fare clic per modificare stile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230D5F-A28A-9D43-B05A-DDA8B16E939A}" type="datetimeFigureOut">
              <a:rPr lang="it-IT" smtClean="0"/>
              <a:t>01/04/2019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D010B-0BA5-CA41-ABDD-7D9A9BA0872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86548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nu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230D5F-A28A-9D43-B05A-DDA8B16E939A}" type="datetimeFigureOut">
              <a:rPr lang="it-IT" smtClean="0"/>
              <a:t>01/04/2019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D010B-0BA5-CA41-ABDD-7D9A9BA0872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64452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stile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230D5F-A28A-9D43-B05A-DDA8B16E939A}" type="datetimeFigureOut">
              <a:rPr lang="it-IT" smtClean="0"/>
              <a:t>01/04/2019</a:t>
            </a:fld>
            <a:endParaRPr lang="it-IT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D010B-0BA5-CA41-ABDD-7D9A9BA0872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12006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230D5F-A28A-9D43-B05A-DDA8B16E939A}" type="datetimeFigureOut">
              <a:rPr lang="it-IT" smtClean="0"/>
              <a:t>01/04/2019</a:t>
            </a:fld>
            <a:endParaRPr lang="it-IT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D010B-0BA5-CA41-ABDD-7D9A9BA0872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444893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230D5F-A28A-9D43-B05A-DDA8B16E939A}" type="datetimeFigureOut">
              <a:rPr lang="it-IT" smtClean="0"/>
              <a:t>01/04/2019</a:t>
            </a:fld>
            <a:endParaRPr lang="it-IT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D010B-0BA5-CA41-ABDD-7D9A9BA0872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12273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stile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230D5F-A28A-9D43-B05A-DDA8B16E939A}" type="datetimeFigureOut">
              <a:rPr lang="it-IT" smtClean="0"/>
              <a:t>01/04/2019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D010B-0BA5-CA41-ABDD-7D9A9BA0872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74252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stile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230D5F-A28A-9D43-B05A-DDA8B16E939A}" type="datetimeFigureOut">
              <a:rPr lang="it-IT" smtClean="0"/>
              <a:t>01/04/2019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D010B-0BA5-CA41-ABDD-7D9A9BA0872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637160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230D5F-A28A-9D43-B05A-DDA8B16E939A}" type="datetimeFigureOut">
              <a:rPr lang="it-IT" smtClean="0"/>
              <a:t>01/04/2019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D010B-0BA5-CA41-ABDD-7D9A9BA0872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739130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olo verticale e tes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230D5F-A28A-9D43-B05A-DDA8B16E939A}" type="datetimeFigureOut">
              <a:rPr lang="it-IT" smtClean="0"/>
              <a:t>01/04/2019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D010B-0BA5-CA41-ABDD-7D9A9BA0872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957371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230D5F-A28A-9D43-B05A-DDA8B16E939A}" type="datetimeFigureOut">
              <a:rPr lang="it-IT" smtClean="0"/>
              <a:t>01/04/2019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ED010B-0BA5-CA41-ABDD-7D9A9BA0872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04319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1.png"/><Relationship Id="rId5" Type="http://schemas.openxmlformats.org/officeDocument/2006/relationships/image" Target="../media/image6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581318"/>
          </a:xfrm>
        </p:spPr>
        <p:txBody>
          <a:bodyPr>
            <a:normAutofit fontScale="90000"/>
          </a:bodyPr>
          <a:lstStyle/>
          <a:p>
            <a:r>
              <a:rPr lang="it-IT" dirty="0"/>
              <a:t>Vista iniziale</a:t>
            </a:r>
          </a:p>
        </p:txBody>
      </p:sp>
      <p:sp>
        <p:nvSpPr>
          <p:cNvPr id="4" name="Rettangolo 3"/>
          <p:cNvSpPr/>
          <p:nvPr/>
        </p:nvSpPr>
        <p:spPr>
          <a:xfrm>
            <a:off x="800682" y="1417638"/>
            <a:ext cx="7886118" cy="52091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                User Dashboard</a:t>
            </a:r>
          </a:p>
        </p:txBody>
      </p:sp>
      <p:sp>
        <p:nvSpPr>
          <p:cNvPr id="5" name="Rettangolo 4"/>
          <p:cNvSpPr/>
          <p:nvPr/>
        </p:nvSpPr>
        <p:spPr>
          <a:xfrm>
            <a:off x="800682" y="855956"/>
            <a:ext cx="7886118" cy="56168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it-IT" dirty="0" err="1"/>
              <a:t>Gorico</a:t>
            </a:r>
            <a:r>
              <a:rPr lang="it-IT" dirty="0"/>
              <a:t>		Azienda 					        Amedeo Poli</a:t>
            </a:r>
          </a:p>
        </p:txBody>
      </p:sp>
      <p:pic>
        <p:nvPicPr>
          <p:cNvPr id="6" name="Immagine 5" descr="Schermata 2018-08-13 alle 10.02.1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5398" y="922338"/>
            <a:ext cx="952500" cy="495300"/>
          </a:xfrm>
          <a:prstGeom prst="rect">
            <a:avLst/>
          </a:prstGeom>
        </p:spPr>
      </p:pic>
      <p:sp>
        <p:nvSpPr>
          <p:cNvPr id="9" name="Rettangolo 8"/>
          <p:cNvSpPr/>
          <p:nvPr/>
        </p:nvSpPr>
        <p:spPr>
          <a:xfrm>
            <a:off x="806566" y="1417638"/>
            <a:ext cx="1808438" cy="465253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</p:txBody>
      </p:sp>
      <p:sp>
        <p:nvSpPr>
          <p:cNvPr id="30" name="Rettangolo 29"/>
          <p:cNvSpPr/>
          <p:nvPr/>
        </p:nvSpPr>
        <p:spPr>
          <a:xfrm>
            <a:off x="806566" y="1417639"/>
            <a:ext cx="1808438" cy="46698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Processi</a:t>
            </a:r>
          </a:p>
        </p:txBody>
      </p:sp>
      <p:sp>
        <p:nvSpPr>
          <p:cNvPr id="31" name="Rettangolo 30"/>
          <p:cNvSpPr/>
          <p:nvPr/>
        </p:nvSpPr>
        <p:spPr>
          <a:xfrm>
            <a:off x="806566" y="1884624"/>
            <a:ext cx="1808438" cy="46698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 err="1"/>
              <a:t>Workflow</a:t>
            </a:r>
            <a:endParaRPr lang="it-IT" dirty="0"/>
          </a:p>
        </p:txBody>
      </p:sp>
      <p:sp>
        <p:nvSpPr>
          <p:cNvPr id="32" name="Rettangolo 31"/>
          <p:cNvSpPr/>
          <p:nvPr/>
        </p:nvSpPr>
        <p:spPr>
          <a:xfrm>
            <a:off x="806566" y="2351609"/>
            <a:ext cx="1808438" cy="46698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Presidi</a:t>
            </a:r>
          </a:p>
        </p:txBody>
      </p:sp>
      <p:sp>
        <p:nvSpPr>
          <p:cNvPr id="33" name="Rettangolo 32"/>
          <p:cNvSpPr/>
          <p:nvPr/>
        </p:nvSpPr>
        <p:spPr>
          <a:xfrm>
            <a:off x="800682" y="2825172"/>
            <a:ext cx="1808438" cy="46698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Rischi</a:t>
            </a:r>
          </a:p>
        </p:txBody>
      </p:sp>
      <p:sp>
        <p:nvSpPr>
          <p:cNvPr id="34" name="Rettangolo 33"/>
          <p:cNvSpPr/>
          <p:nvPr/>
        </p:nvSpPr>
        <p:spPr>
          <a:xfrm>
            <a:off x="806566" y="3298735"/>
            <a:ext cx="1808438" cy="46698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Segnalazioni</a:t>
            </a:r>
          </a:p>
        </p:txBody>
      </p:sp>
      <p:sp>
        <p:nvSpPr>
          <p:cNvPr id="35" name="Rettangolo 34"/>
          <p:cNvSpPr/>
          <p:nvPr/>
        </p:nvSpPr>
        <p:spPr>
          <a:xfrm>
            <a:off x="800682" y="3766257"/>
            <a:ext cx="1808438" cy="46698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Questionari</a:t>
            </a:r>
          </a:p>
        </p:txBody>
      </p:sp>
      <p:sp>
        <p:nvSpPr>
          <p:cNvPr id="36" name="Rettangolo 35"/>
          <p:cNvSpPr/>
          <p:nvPr/>
        </p:nvSpPr>
        <p:spPr>
          <a:xfrm>
            <a:off x="806566" y="4233242"/>
            <a:ext cx="1808438" cy="46698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 err="1"/>
              <a:t>Checklist</a:t>
            </a:r>
            <a:endParaRPr lang="it-IT" dirty="0"/>
          </a:p>
        </p:txBody>
      </p:sp>
      <p:sp>
        <p:nvSpPr>
          <p:cNvPr id="37" name="Rettangolo 36"/>
          <p:cNvSpPr/>
          <p:nvPr/>
        </p:nvSpPr>
        <p:spPr>
          <a:xfrm>
            <a:off x="800682" y="4700227"/>
            <a:ext cx="1808438" cy="46698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Modulistica</a:t>
            </a:r>
          </a:p>
        </p:txBody>
      </p:sp>
      <p:sp>
        <p:nvSpPr>
          <p:cNvPr id="38" name="Rettangolo 37"/>
          <p:cNvSpPr/>
          <p:nvPr/>
        </p:nvSpPr>
        <p:spPr>
          <a:xfrm>
            <a:off x="800682" y="5173790"/>
            <a:ext cx="1808438" cy="46698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Modelli di test</a:t>
            </a:r>
          </a:p>
        </p:txBody>
      </p:sp>
      <p:sp>
        <p:nvSpPr>
          <p:cNvPr id="39" name="Rettangolo 38"/>
          <p:cNvSpPr/>
          <p:nvPr/>
        </p:nvSpPr>
        <p:spPr>
          <a:xfrm>
            <a:off x="800682" y="5603724"/>
            <a:ext cx="1808438" cy="46698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Sondaggi</a:t>
            </a:r>
          </a:p>
        </p:txBody>
      </p:sp>
      <p:sp>
        <p:nvSpPr>
          <p:cNvPr id="40" name="Rettangolo 39"/>
          <p:cNvSpPr/>
          <p:nvPr/>
        </p:nvSpPr>
        <p:spPr>
          <a:xfrm>
            <a:off x="800682" y="6070709"/>
            <a:ext cx="1808438" cy="55604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Configurazioni &gt;</a:t>
            </a:r>
          </a:p>
        </p:txBody>
      </p:sp>
      <p:pic>
        <p:nvPicPr>
          <p:cNvPr id="41" name="Immagine 4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3213" y="1028739"/>
            <a:ext cx="486294" cy="280933"/>
          </a:xfrm>
          <a:prstGeom prst="rect">
            <a:avLst/>
          </a:prstGeom>
        </p:spPr>
      </p:pic>
      <p:sp>
        <p:nvSpPr>
          <p:cNvPr id="42" name="Rettangolo 41"/>
          <p:cNvSpPr/>
          <p:nvPr/>
        </p:nvSpPr>
        <p:spPr>
          <a:xfrm>
            <a:off x="3037070" y="1028739"/>
            <a:ext cx="1996365" cy="28093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dirty="0"/>
              <a:t>    </a:t>
            </a:r>
            <a:r>
              <a:rPr lang="it-IT" dirty="0" err="1"/>
              <a:t>Alacritas</a:t>
            </a:r>
            <a:r>
              <a:rPr lang="it-IT" dirty="0"/>
              <a:t>   </a:t>
            </a:r>
          </a:p>
        </p:txBody>
      </p:sp>
      <p:pic>
        <p:nvPicPr>
          <p:cNvPr id="43" name="Immagine 4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7142" y="1040672"/>
            <a:ext cx="486294" cy="280933"/>
          </a:xfrm>
          <a:prstGeom prst="rect">
            <a:avLst/>
          </a:prstGeom>
        </p:spPr>
      </p:pic>
      <p:sp>
        <p:nvSpPr>
          <p:cNvPr id="44" name="Rettangolo 43"/>
          <p:cNvSpPr/>
          <p:nvPr/>
        </p:nvSpPr>
        <p:spPr>
          <a:xfrm>
            <a:off x="5781116" y="1351531"/>
            <a:ext cx="1328391" cy="71088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5" name="Rettangolo 44"/>
          <p:cNvSpPr/>
          <p:nvPr/>
        </p:nvSpPr>
        <p:spPr>
          <a:xfrm>
            <a:off x="5781116" y="1312092"/>
            <a:ext cx="1328391" cy="37516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User </a:t>
            </a:r>
            <a:r>
              <a:rPr lang="it-IT" dirty="0" err="1"/>
              <a:t>Profile</a:t>
            </a:r>
            <a:endParaRPr lang="it-IT" dirty="0"/>
          </a:p>
        </p:txBody>
      </p:sp>
      <p:sp>
        <p:nvSpPr>
          <p:cNvPr id="46" name="Rettangolo 45"/>
          <p:cNvSpPr/>
          <p:nvPr/>
        </p:nvSpPr>
        <p:spPr>
          <a:xfrm>
            <a:off x="5781116" y="1687256"/>
            <a:ext cx="1328391" cy="375164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>
                <a:latin typeface="ＭＳ ゴシック"/>
                <a:ea typeface="ＭＳ ゴシック"/>
                <a:cs typeface="ＭＳ ゴシック"/>
              </a:rPr>
              <a:t>Dashboard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532631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581318"/>
          </a:xfrm>
        </p:spPr>
        <p:txBody>
          <a:bodyPr>
            <a:normAutofit fontScale="90000"/>
          </a:bodyPr>
          <a:lstStyle/>
          <a:p>
            <a:r>
              <a:rPr lang="it-IT" dirty="0"/>
              <a:t>Vista principale</a:t>
            </a:r>
          </a:p>
        </p:txBody>
      </p:sp>
      <p:sp>
        <p:nvSpPr>
          <p:cNvPr id="4" name="Rettangolo 3"/>
          <p:cNvSpPr/>
          <p:nvPr/>
        </p:nvSpPr>
        <p:spPr>
          <a:xfrm>
            <a:off x="800682" y="1417638"/>
            <a:ext cx="7886118" cy="52091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 err="1"/>
              <a:t>Table</a:t>
            </a:r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</p:txBody>
      </p:sp>
      <p:sp>
        <p:nvSpPr>
          <p:cNvPr id="5" name="Rettangolo 4"/>
          <p:cNvSpPr/>
          <p:nvPr/>
        </p:nvSpPr>
        <p:spPr>
          <a:xfrm>
            <a:off x="800682" y="855956"/>
            <a:ext cx="7886118" cy="56168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it-IT" dirty="0" err="1"/>
              <a:t>Gorico</a:t>
            </a:r>
            <a:r>
              <a:rPr lang="it-IT" dirty="0"/>
              <a:t>		Azienda 					        Amedeo Poli</a:t>
            </a:r>
          </a:p>
        </p:txBody>
      </p:sp>
      <p:pic>
        <p:nvPicPr>
          <p:cNvPr id="6" name="Immagine 5" descr="Schermata 2018-08-13 alle 10.02.1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5398" y="922338"/>
            <a:ext cx="952500" cy="495300"/>
          </a:xfrm>
          <a:prstGeom prst="rect">
            <a:avLst/>
          </a:prstGeom>
        </p:spPr>
      </p:pic>
      <p:sp>
        <p:nvSpPr>
          <p:cNvPr id="7" name="Rettangolo 6"/>
          <p:cNvSpPr/>
          <p:nvPr/>
        </p:nvSpPr>
        <p:spPr>
          <a:xfrm>
            <a:off x="2609120" y="1417639"/>
            <a:ext cx="6075290" cy="55658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8" name="Immagine 7" descr="Schermata 2018-08-13 alle 10.04.23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8470" y="1466801"/>
            <a:ext cx="457200" cy="457200"/>
          </a:xfrm>
          <a:prstGeom prst="rect">
            <a:avLst/>
          </a:prstGeom>
        </p:spPr>
      </p:pic>
      <p:sp>
        <p:nvSpPr>
          <p:cNvPr id="9" name="Rettangolo 8"/>
          <p:cNvSpPr/>
          <p:nvPr/>
        </p:nvSpPr>
        <p:spPr>
          <a:xfrm>
            <a:off x="800682" y="1457014"/>
            <a:ext cx="1808438" cy="516973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</p:txBody>
      </p:sp>
      <p:pic>
        <p:nvPicPr>
          <p:cNvPr id="11" name="Immagine 10" descr="Schermata 2018-08-13 alle 10.04.04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2210" y="1456142"/>
            <a:ext cx="457200" cy="457200"/>
          </a:xfrm>
          <a:prstGeom prst="rect">
            <a:avLst/>
          </a:prstGeom>
        </p:spPr>
      </p:pic>
      <p:pic>
        <p:nvPicPr>
          <p:cNvPr id="16" name="Immagine 1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5182" y="1466801"/>
            <a:ext cx="1120432" cy="548496"/>
          </a:xfrm>
          <a:prstGeom prst="rect">
            <a:avLst/>
          </a:prstGeom>
        </p:spPr>
      </p:pic>
      <p:pic>
        <p:nvPicPr>
          <p:cNvPr id="13" name="Immagine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0692" y="1456142"/>
            <a:ext cx="517206" cy="517206"/>
          </a:xfrm>
          <a:prstGeom prst="rect">
            <a:avLst/>
          </a:prstGeom>
        </p:spPr>
      </p:pic>
      <p:sp>
        <p:nvSpPr>
          <p:cNvPr id="17" name="Rettangolo 16"/>
          <p:cNvSpPr/>
          <p:nvPr/>
        </p:nvSpPr>
        <p:spPr>
          <a:xfrm>
            <a:off x="2609120" y="1974221"/>
            <a:ext cx="6077680" cy="60745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it-IT" dirty="0"/>
              <a:t> __</a:t>
            </a:r>
            <a:r>
              <a:rPr lang="it-IT" i="1" u="sng" dirty="0"/>
              <a:t>Filtro__</a:t>
            </a:r>
            <a:r>
              <a:rPr lang="it-IT" dirty="0"/>
              <a:t>              </a:t>
            </a:r>
          </a:p>
        </p:txBody>
      </p:sp>
      <p:pic>
        <p:nvPicPr>
          <p:cNvPr id="22" name="Immagine 21" descr="Schermata 2018-08-13 alle 10.04.34.pn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4516" y="1457015"/>
            <a:ext cx="469365" cy="456327"/>
          </a:xfrm>
          <a:prstGeom prst="rect">
            <a:avLst/>
          </a:prstGeom>
        </p:spPr>
      </p:pic>
      <p:pic>
        <p:nvPicPr>
          <p:cNvPr id="23" name="Immagine 2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51604" y="2160273"/>
            <a:ext cx="486294" cy="280933"/>
          </a:xfrm>
          <a:prstGeom prst="rect">
            <a:avLst/>
          </a:prstGeom>
        </p:spPr>
      </p:pic>
      <p:sp>
        <p:nvSpPr>
          <p:cNvPr id="24" name="Rettangolo 23"/>
          <p:cNvSpPr/>
          <p:nvPr/>
        </p:nvSpPr>
        <p:spPr>
          <a:xfrm>
            <a:off x="7109507" y="2441206"/>
            <a:ext cx="1328391" cy="112361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5" name="Rettangolo 24"/>
          <p:cNvSpPr/>
          <p:nvPr/>
        </p:nvSpPr>
        <p:spPr>
          <a:xfrm>
            <a:off x="7109507" y="2441206"/>
            <a:ext cx="1328391" cy="375164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>
                <a:latin typeface="Wingdings"/>
                <a:ea typeface="Wingdings"/>
                <a:cs typeface="Wingdings"/>
                <a:sym typeface="Wingdings"/>
              </a:rPr>
              <a:t></a:t>
            </a:r>
            <a:r>
              <a:rPr lang="it-IT" dirty="0"/>
              <a:t>Column1</a:t>
            </a:r>
          </a:p>
        </p:txBody>
      </p:sp>
      <p:sp>
        <p:nvSpPr>
          <p:cNvPr id="26" name="Rettangolo 25"/>
          <p:cNvSpPr/>
          <p:nvPr/>
        </p:nvSpPr>
        <p:spPr>
          <a:xfrm>
            <a:off x="7109507" y="2816370"/>
            <a:ext cx="1328391" cy="375164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>
                <a:latin typeface="ＭＳ ゴシック"/>
                <a:ea typeface="ＭＳ ゴシック"/>
                <a:cs typeface="ＭＳ ゴシック"/>
              </a:rPr>
              <a:t>☐</a:t>
            </a:r>
            <a:r>
              <a:rPr lang="it-IT" dirty="0" err="1"/>
              <a:t>Column</a:t>
            </a:r>
            <a:r>
              <a:rPr lang="it-IT" dirty="0"/>
              <a:t> 2</a:t>
            </a:r>
          </a:p>
        </p:txBody>
      </p:sp>
      <p:sp>
        <p:nvSpPr>
          <p:cNvPr id="27" name="Rettangolo 26"/>
          <p:cNvSpPr/>
          <p:nvPr/>
        </p:nvSpPr>
        <p:spPr>
          <a:xfrm>
            <a:off x="7109507" y="3189661"/>
            <a:ext cx="1328391" cy="375164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>
                <a:latin typeface="Wingdings"/>
                <a:ea typeface="Wingdings"/>
                <a:cs typeface="Wingdings"/>
                <a:sym typeface="Wingdings"/>
              </a:rPr>
              <a:t></a:t>
            </a:r>
            <a:r>
              <a:rPr lang="it-IT" dirty="0" err="1"/>
              <a:t>Column</a:t>
            </a:r>
            <a:r>
              <a:rPr lang="it-IT" dirty="0"/>
              <a:t> 3</a:t>
            </a:r>
          </a:p>
        </p:txBody>
      </p:sp>
      <p:sp>
        <p:nvSpPr>
          <p:cNvPr id="30" name="Rettangolo 29"/>
          <p:cNvSpPr/>
          <p:nvPr/>
        </p:nvSpPr>
        <p:spPr>
          <a:xfrm>
            <a:off x="800682" y="1457016"/>
            <a:ext cx="1808438" cy="4669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Processi</a:t>
            </a:r>
          </a:p>
        </p:txBody>
      </p:sp>
      <p:sp>
        <p:nvSpPr>
          <p:cNvPr id="31" name="Rettangolo 30"/>
          <p:cNvSpPr/>
          <p:nvPr/>
        </p:nvSpPr>
        <p:spPr>
          <a:xfrm>
            <a:off x="800682" y="1924001"/>
            <a:ext cx="1808438" cy="46698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 err="1"/>
              <a:t>Workflow</a:t>
            </a:r>
            <a:endParaRPr lang="it-IT" dirty="0"/>
          </a:p>
        </p:txBody>
      </p:sp>
      <p:sp>
        <p:nvSpPr>
          <p:cNvPr id="32" name="Rettangolo 31"/>
          <p:cNvSpPr/>
          <p:nvPr/>
        </p:nvSpPr>
        <p:spPr>
          <a:xfrm>
            <a:off x="800682" y="2390986"/>
            <a:ext cx="1808438" cy="46698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Presidi</a:t>
            </a:r>
          </a:p>
        </p:txBody>
      </p:sp>
      <p:sp>
        <p:nvSpPr>
          <p:cNvPr id="33" name="Rettangolo 32"/>
          <p:cNvSpPr/>
          <p:nvPr/>
        </p:nvSpPr>
        <p:spPr>
          <a:xfrm>
            <a:off x="794798" y="2864549"/>
            <a:ext cx="1808438" cy="46698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Rischi</a:t>
            </a:r>
          </a:p>
        </p:txBody>
      </p:sp>
      <p:sp>
        <p:nvSpPr>
          <p:cNvPr id="34" name="Rettangolo 33"/>
          <p:cNvSpPr/>
          <p:nvPr/>
        </p:nvSpPr>
        <p:spPr>
          <a:xfrm>
            <a:off x="800682" y="3338112"/>
            <a:ext cx="1808438" cy="46698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Segnalazioni</a:t>
            </a:r>
          </a:p>
        </p:txBody>
      </p:sp>
      <p:sp>
        <p:nvSpPr>
          <p:cNvPr id="35" name="Rettangolo 34"/>
          <p:cNvSpPr/>
          <p:nvPr/>
        </p:nvSpPr>
        <p:spPr>
          <a:xfrm>
            <a:off x="3235684" y="4668985"/>
            <a:ext cx="1808438" cy="46698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Questionari</a:t>
            </a:r>
          </a:p>
        </p:txBody>
      </p:sp>
      <p:sp>
        <p:nvSpPr>
          <p:cNvPr id="36" name="Rettangolo 35"/>
          <p:cNvSpPr/>
          <p:nvPr/>
        </p:nvSpPr>
        <p:spPr>
          <a:xfrm>
            <a:off x="3241568" y="5135970"/>
            <a:ext cx="1808438" cy="46698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 err="1"/>
              <a:t>Checklist</a:t>
            </a:r>
            <a:endParaRPr lang="it-IT" dirty="0"/>
          </a:p>
        </p:txBody>
      </p:sp>
      <p:sp>
        <p:nvSpPr>
          <p:cNvPr id="37" name="Rettangolo 36"/>
          <p:cNvSpPr/>
          <p:nvPr/>
        </p:nvSpPr>
        <p:spPr>
          <a:xfrm>
            <a:off x="3235684" y="5602955"/>
            <a:ext cx="1808438" cy="46698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Modulistica</a:t>
            </a:r>
          </a:p>
        </p:txBody>
      </p:sp>
      <p:sp>
        <p:nvSpPr>
          <p:cNvPr id="38" name="Rettangolo 37"/>
          <p:cNvSpPr/>
          <p:nvPr/>
        </p:nvSpPr>
        <p:spPr>
          <a:xfrm>
            <a:off x="794798" y="3805633"/>
            <a:ext cx="1808438" cy="46698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Modelli di test &gt;</a:t>
            </a:r>
          </a:p>
        </p:txBody>
      </p:sp>
      <p:sp>
        <p:nvSpPr>
          <p:cNvPr id="39" name="Rettangolo 38"/>
          <p:cNvSpPr/>
          <p:nvPr/>
        </p:nvSpPr>
        <p:spPr>
          <a:xfrm>
            <a:off x="794798" y="4235567"/>
            <a:ext cx="1808438" cy="46698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Sondaggi &gt;</a:t>
            </a:r>
          </a:p>
        </p:txBody>
      </p:sp>
      <p:sp>
        <p:nvSpPr>
          <p:cNvPr id="40" name="Rettangolo 39"/>
          <p:cNvSpPr/>
          <p:nvPr/>
        </p:nvSpPr>
        <p:spPr>
          <a:xfrm>
            <a:off x="794798" y="4702552"/>
            <a:ext cx="1808438" cy="5166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Configurazioni &gt;</a:t>
            </a:r>
          </a:p>
        </p:txBody>
      </p:sp>
      <p:pic>
        <p:nvPicPr>
          <p:cNvPr id="41" name="Immagine 4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3213" y="1028739"/>
            <a:ext cx="486294" cy="280933"/>
          </a:xfrm>
          <a:prstGeom prst="rect">
            <a:avLst/>
          </a:prstGeom>
        </p:spPr>
      </p:pic>
      <p:sp>
        <p:nvSpPr>
          <p:cNvPr id="42" name="Rettangolo 41"/>
          <p:cNvSpPr/>
          <p:nvPr/>
        </p:nvSpPr>
        <p:spPr>
          <a:xfrm>
            <a:off x="3037070" y="1028739"/>
            <a:ext cx="1996365" cy="28093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dirty="0"/>
              <a:t>    </a:t>
            </a:r>
            <a:r>
              <a:rPr lang="it-IT" dirty="0" err="1"/>
              <a:t>Alacritas</a:t>
            </a:r>
            <a:r>
              <a:rPr lang="it-IT" dirty="0"/>
              <a:t>   </a:t>
            </a:r>
          </a:p>
        </p:txBody>
      </p:sp>
      <p:pic>
        <p:nvPicPr>
          <p:cNvPr id="43" name="Immagine 4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47142" y="1040672"/>
            <a:ext cx="486294" cy="280933"/>
          </a:xfrm>
          <a:prstGeom prst="rect">
            <a:avLst/>
          </a:prstGeom>
        </p:spPr>
      </p:pic>
      <p:pic>
        <p:nvPicPr>
          <p:cNvPr id="18" name="Immagine 17" descr="dashboard-icon.png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7028" y="1417638"/>
            <a:ext cx="495703" cy="495703"/>
          </a:xfrm>
          <a:prstGeom prst="rect">
            <a:avLst/>
          </a:prstGeom>
        </p:spPr>
      </p:pic>
      <p:cxnSp>
        <p:nvCxnSpPr>
          <p:cNvPr id="10" name="Connettore 2 9"/>
          <p:cNvCxnSpPr>
            <a:stCxn id="38" idx="3"/>
            <a:endCxn id="44" idx="1"/>
          </p:cNvCxnSpPr>
          <p:nvPr/>
        </p:nvCxnSpPr>
        <p:spPr>
          <a:xfrm>
            <a:off x="2603236" y="4039126"/>
            <a:ext cx="621761" cy="419311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ttore 2 13"/>
          <p:cNvCxnSpPr>
            <a:stCxn id="39" idx="3"/>
            <a:endCxn id="44" idx="1"/>
          </p:cNvCxnSpPr>
          <p:nvPr/>
        </p:nvCxnSpPr>
        <p:spPr>
          <a:xfrm flipV="1">
            <a:off x="2603236" y="4458437"/>
            <a:ext cx="621761" cy="10623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ttangolo 43"/>
          <p:cNvSpPr/>
          <p:nvPr/>
        </p:nvSpPr>
        <p:spPr>
          <a:xfrm>
            <a:off x="3224997" y="4224944"/>
            <a:ext cx="1808438" cy="46698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Generico</a:t>
            </a:r>
          </a:p>
        </p:txBody>
      </p:sp>
    </p:spTree>
    <p:extLst>
      <p:ext uri="{BB962C8B-B14F-4D97-AF65-F5344CB8AC3E}">
        <p14:creationId xmlns:p14="http://schemas.microsoft.com/office/powerpoint/2010/main" val="34794675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ln>
            <a:noFill/>
          </a:ln>
        </p:spPr>
        <p:txBody>
          <a:bodyPr/>
          <a:lstStyle/>
          <a:p>
            <a:r>
              <a:rPr lang="it-IT" dirty="0" err="1"/>
              <a:t>Table</a:t>
            </a:r>
            <a:endParaRPr lang="it-IT" dirty="0"/>
          </a:p>
        </p:txBody>
      </p:sp>
      <p:graphicFrame>
        <p:nvGraphicFramePr>
          <p:cNvPr id="4" name="Segnaposto contenut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69114794"/>
              </p:ext>
            </p:extLst>
          </p:nvPr>
        </p:nvGraphicFramePr>
        <p:xfrm>
          <a:off x="1382126" y="1862509"/>
          <a:ext cx="7053942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56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56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756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56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756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err="1"/>
                        <a:t>Column</a:t>
                      </a:r>
                      <a:r>
                        <a:rPr lang="it-IT" dirty="0"/>
                        <a:t>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dirty="0" err="1"/>
                        <a:t>Column</a:t>
                      </a:r>
                      <a:r>
                        <a:rPr lang="it-IT" dirty="0"/>
                        <a:t>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mr-IN" dirty="0"/>
                        <a:t>…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3" name="Rettangolo 12"/>
          <p:cNvSpPr/>
          <p:nvPr/>
        </p:nvSpPr>
        <p:spPr>
          <a:xfrm>
            <a:off x="1382126" y="2650702"/>
            <a:ext cx="7053942" cy="372754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5" name="Connettore 2 14"/>
          <p:cNvCxnSpPr/>
          <p:nvPr/>
        </p:nvCxnSpPr>
        <p:spPr>
          <a:xfrm flipV="1">
            <a:off x="621219" y="3023456"/>
            <a:ext cx="897317" cy="104923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asellaDiTesto 15"/>
          <p:cNvSpPr txBox="1"/>
          <p:nvPr/>
        </p:nvSpPr>
        <p:spPr>
          <a:xfrm>
            <a:off x="303707" y="4103727"/>
            <a:ext cx="748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Select</a:t>
            </a:r>
          </a:p>
        </p:txBody>
      </p:sp>
    </p:spTree>
    <p:extLst>
      <p:ext uri="{BB962C8B-B14F-4D97-AF65-F5344CB8AC3E}">
        <p14:creationId xmlns:p14="http://schemas.microsoft.com/office/powerpoint/2010/main" val="29533759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581318"/>
          </a:xfrm>
        </p:spPr>
        <p:txBody>
          <a:bodyPr>
            <a:normAutofit fontScale="90000"/>
          </a:bodyPr>
          <a:lstStyle/>
          <a:p>
            <a:r>
              <a:rPr lang="it-IT" dirty="0" err="1"/>
              <a:t>Generic</a:t>
            </a:r>
            <a:r>
              <a:rPr lang="it-IT" dirty="0"/>
              <a:t> record (record </a:t>
            </a:r>
            <a:r>
              <a:rPr lang="it-IT" dirty="0" err="1"/>
              <a:t>detail</a:t>
            </a:r>
            <a:r>
              <a:rPr lang="it-IT" dirty="0"/>
              <a:t>)</a:t>
            </a:r>
          </a:p>
        </p:txBody>
      </p:sp>
      <p:sp>
        <p:nvSpPr>
          <p:cNvPr id="4" name="Rettangolo 3"/>
          <p:cNvSpPr/>
          <p:nvPr/>
        </p:nvSpPr>
        <p:spPr>
          <a:xfrm>
            <a:off x="800682" y="1417638"/>
            <a:ext cx="7886118" cy="52091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</p:txBody>
      </p:sp>
      <p:sp>
        <p:nvSpPr>
          <p:cNvPr id="5" name="Rettangolo 4"/>
          <p:cNvSpPr/>
          <p:nvPr/>
        </p:nvSpPr>
        <p:spPr>
          <a:xfrm>
            <a:off x="800682" y="855956"/>
            <a:ext cx="7886118" cy="56168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it-IT" dirty="0" err="1"/>
              <a:t>Gorico</a:t>
            </a:r>
            <a:r>
              <a:rPr lang="it-IT" dirty="0"/>
              <a:t>		Azienda 					        Amedeo Poli</a:t>
            </a:r>
          </a:p>
        </p:txBody>
      </p:sp>
      <p:pic>
        <p:nvPicPr>
          <p:cNvPr id="6" name="Immagine 5" descr="Schermata 2018-08-13 alle 10.02.1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5398" y="922338"/>
            <a:ext cx="952500" cy="495300"/>
          </a:xfrm>
          <a:prstGeom prst="rect">
            <a:avLst/>
          </a:prstGeom>
        </p:spPr>
      </p:pic>
      <p:sp>
        <p:nvSpPr>
          <p:cNvPr id="7" name="Rettangolo 6"/>
          <p:cNvSpPr/>
          <p:nvPr/>
        </p:nvSpPr>
        <p:spPr>
          <a:xfrm>
            <a:off x="2609120" y="1417639"/>
            <a:ext cx="6075290" cy="55658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8" name="Immagine 7" descr="Schermata 2018-08-13 alle 10.04.23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8470" y="1466801"/>
            <a:ext cx="457200" cy="457200"/>
          </a:xfrm>
          <a:prstGeom prst="rect">
            <a:avLst/>
          </a:prstGeom>
        </p:spPr>
      </p:pic>
      <p:sp>
        <p:nvSpPr>
          <p:cNvPr id="9" name="Rettangolo 8"/>
          <p:cNvSpPr/>
          <p:nvPr/>
        </p:nvSpPr>
        <p:spPr>
          <a:xfrm>
            <a:off x="800682" y="1457014"/>
            <a:ext cx="1808438" cy="516973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  <a:p>
            <a:pPr algn="ctr"/>
            <a:endParaRPr lang="it-IT" dirty="0"/>
          </a:p>
        </p:txBody>
      </p:sp>
      <p:pic>
        <p:nvPicPr>
          <p:cNvPr id="11" name="Immagine 10" descr="Schermata 2018-08-13 alle 10.04.04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2210" y="1456142"/>
            <a:ext cx="457200" cy="457200"/>
          </a:xfrm>
          <a:prstGeom prst="rect">
            <a:avLst/>
          </a:prstGeom>
        </p:spPr>
      </p:pic>
      <p:pic>
        <p:nvPicPr>
          <p:cNvPr id="13" name="Immagine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9255" y="1456142"/>
            <a:ext cx="517206" cy="517206"/>
          </a:xfrm>
          <a:prstGeom prst="rect">
            <a:avLst/>
          </a:prstGeom>
        </p:spPr>
      </p:pic>
      <p:sp>
        <p:nvSpPr>
          <p:cNvPr id="17" name="Rettangolo 16"/>
          <p:cNvSpPr/>
          <p:nvPr/>
        </p:nvSpPr>
        <p:spPr>
          <a:xfrm>
            <a:off x="2609120" y="1974221"/>
            <a:ext cx="6077680" cy="60745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it-IT" dirty="0"/>
              <a:t> </a:t>
            </a:r>
          </a:p>
        </p:txBody>
      </p:sp>
      <p:pic>
        <p:nvPicPr>
          <p:cNvPr id="22" name="Immagine 21" descr="Schermata 2018-08-13 alle 10.04.34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4516" y="1457015"/>
            <a:ext cx="469365" cy="456327"/>
          </a:xfrm>
          <a:prstGeom prst="rect">
            <a:avLst/>
          </a:prstGeom>
        </p:spPr>
      </p:pic>
      <p:sp>
        <p:nvSpPr>
          <p:cNvPr id="30" name="Rettangolo 29"/>
          <p:cNvSpPr/>
          <p:nvPr/>
        </p:nvSpPr>
        <p:spPr>
          <a:xfrm>
            <a:off x="800682" y="1457016"/>
            <a:ext cx="1808438" cy="4669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Processi</a:t>
            </a:r>
          </a:p>
        </p:txBody>
      </p:sp>
      <p:sp>
        <p:nvSpPr>
          <p:cNvPr id="31" name="Rettangolo 30"/>
          <p:cNvSpPr/>
          <p:nvPr/>
        </p:nvSpPr>
        <p:spPr>
          <a:xfrm>
            <a:off x="800682" y="1924001"/>
            <a:ext cx="1808438" cy="46698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 err="1"/>
              <a:t>Workflow</a:t>
            </a:r>
            <a:endParaRPr lang="it-IT" dirty="0"/>
          </a:p>
        </p:txBody>
      </p:sp>
      <p:sp>
        <p:nvSpPr>
          <p:cNvPr id="32" name="Rettangolo 31"/>
          <p:cNvSpPr/>
          <p:nvPr/>
        </p:nvSpPr>
        <p:spPr>
          <a:xfrm>
            <a:off x="800682" y="2390986"/>
            <a:ext cx="1808438" cy="46698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Presidi</a:t>
            </a:r>
          </a:p>
        </p:txBody>
      </p:sp>
      <p:sp>
        <p:nvSpPr>
          <p:cNvPr id="33" name="Rettangolo 32"/>
          <p:cNvSpPr/>
          <p:nvPr/>
        </p:nvSpPr>
        <p:spPr>
          <a:xfrm>
            <a:off x="794798" y="2864549"/>
            <a:ext cx="1808438" cy="46698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Rischi</a:t>
            </a:r>
          </a:p>
        </p:txBody>
      </p:sp>
      <p:sp>
        <p:nvSpPr>
          <p:cNvPr id="34" name="Rettangolo 33"/>
          <p:cNvSpPr/>
          <p:nvPr/>
        </p:nvSpPr>
        <p:spPr>
          <a:xfrm>
            <a:off x="800682" y="3338112"/>
            <a:ext cx="1808438" cy="46698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Segnalazioni</a:t>
            </a:r>
          </a:p>
        </p:txBody>
      </p:sp>
      <p:sp>
        <p:nvSpPr>
          <p:cNvPr id="38" name="Rettangolo 37"/>
          <p:cNvSpPr/>
          <p:nvPr/>
        </p:nvSpPr>
        <p:spPr>
          <a:xfrm>
            <a:off x="794798" y="3805633"/>
            <a:ext cx="1808438" cy="46698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Modelli di test &gt;</a:t>
            </a:r>
          </a:p>
        </p:txBody>
      </p:sp>
      <p:sp>
        <p:nvSpPr>
          <p:cNvPr id="39" name="Rettangolo 38"/>
          <p:cNvSpPr/>
          <p:nvPr/>
        </p:nvSpPr>
        <p:spPr>
          <a:xfrm>
            <a:off x="794798" y="4235567"/>
            <a:ext cx="1808438" cy="46698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Sondaggi &gt;</a:t>
            </a:r>
          </a:p>
        </p:txBody>
      </p:sp>
      <p:sp>
        <p:nvSpPr>
          <p:cNvPr id="40" name="Rettangolo 39"/>
          <p:cNvSpPr/>
          <p:nvPr/>
        </p:nvSpPr>
        <p:spPr>
          <a:xfrm>
            <a:off x="794798" y="4702552"/>
            <a:ext cx="1808438" cy="5166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Configurazioni &gt;</a:t>
            </a:r>
          </a:p>
        </p:txBody>
      </p:sp>
      <p:pic>
        <p:nvPicPr>
          <p:cNvPr id="41" name="Immagine 4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3213" y="1028739"/>
            <a:ext cx="486294" cy="280933"/>
          </a:xfrm>
          <a:prstGeom prst="rect">
            <a:avLst/>
          </a:prstGeom>
        </p:spPr>
      </p:pic>
      <p:sp>
        <p:nvSpPr>
          <p:cNvPr id="42" name="Rettangolo 41"/>
          <p:cNvSpPr/>
          <p:nvPr/>
        </p:nvSpPr>
        <p:spPr>
          <a:xfrm>
            <a:off x="3037070" y="1028739"/>
            <a:ext cx="1996365" cy="28093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dirty="0"/>
              <a:t>    </a:t>
            </a:r>
            <a:r>
              <a:rPr lang="it-IT" dirty="0" err="1"/>
              <a:t>Alacritas</a:t>
            </a:r>
            <a:r>
              <a:rPr lang="it-IT" dirty="0"/>
              <a:t>   </a:t>
            </a:r>
          </a:p>
        </p:txBody>
      </p:sp>
      <p:pic>
        <p:nvPicPr>
          <p:cNvPr id="43" name="Immagine 4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47142" y="1040672"/>
            <a:ext cx="486294" cy="280933"/>
          </a:xfrm>
          <a:prstGeom prst="rect">
            <a:avLst/>
          </a:prstGeom>
        </p:spPr>
      </p:pic>
      <p:pic>
        <p:nvPicPr>
          <p:cNvPr id="18" name="Immagine 17" descr="dashboard-icon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7028" y="1417638"/>
            <a:ext cx="495703" cy="495703"/>
          </a:xfrm>
          <a:prstGeom prst="rect">
            <a:avLst/>
          </a:prstGeom>
        </p:spPr>
      </p:pic>
      <p:sp>
        <p:nvSpPr>
          <p:cNvPr id="45" name="Rettangolo 44"/>
          <p:cNvSpPr/>
          <p:nvPr/>
        </p:nvSpPr>
        <p:spPr>
          <a:xfrm>
            <a:off x="2609120" y="2001833"/>
            <a:ext cx="1449511" cy="57984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&lt; Indietro</a:t>
            </a:r>
          </a:p>
        </p:txBody>
      </p:sp>
      <p:sp>
        <p:nvSpPr>
          <p:cNvPr id="46" name="Rettangolo 45"/>
          <p:cNvSpPr/>
          <p:nvPr/>
        </p:nvSpPr>
        <p:spPr>
          <a:xfrm>
            <a:off x="4058631" y="2001832"/>
            <a:ext cx="2899023" cy="579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|&lt;   &lt;   Record x di y   &gt;   &gt;|</a:t>
            </a:r>
          </a:p>
        </p:txBody>
      </p:sp>
      <p:sp>
        <p:nvSpPr>
          <p:cNvPr id="47" name="Rettangolo 46"/>
          <p:cNvSpPr/>
          <p:nvPr/>
        </p:nvSpPr>
        <p:spPr>
          <a:xfrm>
            <a:off x="6957654" y="2001833"/>
            <a:ext cx="1726756" cy="57984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3" name="Immagine 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58685" y="2125755"/>
            <a:ext cx="557372" cy="358311"/>
          </a:xfrm>
          <a:prstGeom prst="rect">
            <a:avLst/>
          </a:prstGeom>
        </p:spPr>
      </p:pic>
      <p:pic>
        <p:nvPicPr>
          <p:cNvPr id="12" name="Immagine 1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03751" y="2088291"/>
            <a:ext cx="402543" cy="402543"/>
          </a:xfrm>
          <a:prstGeom prst="rect">
            <a:avLst/>
          </a:prstGeom>
        </p:spPr>
      </p:pic>
      <p:pic>
        <p:nvPicPr>
          <p:cNvPr id="15" name="Immagine 14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16057" y="2088291"/>
            <a:ext cx="440007" cy="440007"/>
          </a:xfrm>
          <a:prstGeom prst="rect">
            <a:avLst/>
          </a:prstGeom>
        </p:spPr>
      </p:pic>
      <p:sp>
        <p:nvSpPr>
          <p:cNvPr id="19" name="Rettangolo 18"/>
          <p:cNvSpPr/>
          <p:nvPr/>
        </p:nvSpPr>
        <p:spPr>
          <a:xfrm>
            <a:off x="2609120" y="2581673"/>
            <a:ext cx="6075290" cy="223652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Record Form</a:t>
            </a:r>
          </a:p>
        </p:txBody>
      </p:sp>
      <p:sp>
        <p:nvSpPr>
          <p:cNvPr id="20" name="CasellaDiTesto 19"/>
          <p:cNvSpPr txBox="1"/>
          <p:nvPr/>
        </p:nvSpPr>
        <p:spPr>
          <a:xfrm>
            <a:off x="3472210" y="5420464"/>
            <a:ext cx="38651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lphaLcPeriod"/>
            </a:pPr>
            <a:r>
              <a:rPr lang="it-IT" dirty="0"/>
              <a:t>Links alle tabelle di record collegate</a:t>
            </a:r>
          </a:p>
          <a:p>
            <a:pPr marL="342900" indent="-342900">
              <a:buAutoNum type="alphaLcPeriod"/>
            </a:pPr>
            <a:r>
              <a:rPr lang="it-IT" dirty="0" err="1"/>
              <a:t>Tab</a:t>
            </a:r>
            <a:r>
              <a:rPr lang="it-IT" dirty="0"/>
              <a:t> con vista tabelle collegate</a:t>
            </a:r>
          </a:p>
        </p:txBody>
      </p:sp>
    </p:spTree>
    <p:extLst>
      <p:ext uri="{BB962C8B-B14F-4D97-AF65-F5344CB8AC3E}">
        <p14:creationId xmlns:p14="http://schemas.microsoft.com/office/powerpoint/2010/main" val="11040590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581318"/>
          </a:xfrm>
        </p:spPr>
        <p:txBody>
          <a:bodyPr>
            <a:normAutofit fontScale="90000"/>
          </a:bodyPr>
          <a:lstStyle/>
          <a:p>
            <a:r>
              <a:rPr lang="it-IT" dirty="0" err="1"/>
              <a:t>Generic</a:t>
            </a:r>
            <a:r>
              <a:rPr lang="it-IT" dirty="0"/>
              <a:t> record (record </a:t>
            </a:r>
            <a:r>
              <a:rPr lang="it-IT" dirty="0" err="1"/>
              <a:t>detail</a:t>
            </a:r>
            <a:r>
              <a:rPr lang="it-IT" dirty="0"/>
              <a:t>/ </a:t>
            </a:r>
            <a:r>
              <a:rPr lang="it-IT" dirty="0" err="1"/>
              <a:t>element</a:t>
            </a:r>
            <a:r>
              <a:rPr lang="it-IT" dirty="0"/>
              <a:t>)</a:t>
            </a: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5DFD051A-C09A-44CC-B08A-1BDE43A28F00}"/>
              </a:ext>
            </a:extLst>
          </p:cNvPr>
          <p:cNvSpPr txBox="1"/>
          <p:nvPr/>
        </p:nvSpPr>
        <p:spPr>
          <a:xfrm>
            <a:off x="1094282" y="1417818"/>
            <a:ext cx="728521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Nel record sarebbe anche necessario aggiungere un menù a tendina con una serie di comandi (il cui effetto non è altro che eseguire query di aggiornamento/ inserimento). Tali comandi variano da un business </a:t>
            </a:r>
            <a:r>
              <a:rPr lang="it-IT" dirty="0" err="1"/>
              <a:t>object</a:t>
            </a:r>
            <a:r>
              <a:rPr lang="it-IT" dirty="0"/>
              <a:t> all’altro (da una tabella all’altra).</a:t>
            </a:r>
          </a:p>
        </p:txBody>
      </p:sp>
    </p:spTree>
    <p:extLst>
      <p:ext uri="{BB962C8B-B14F-4D97-AF65-F5344CB8AC3E}">
        <p14:creationId xmlns:p14="http://schemas.microsoft.com/office/powerpoint/2010/main" val="311431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3">
            <a:extLst>
              <a:ext uri="{FF2B5EF4-FFF2-40B4-BE49-F238E27FC236}">
                <a16:creationId xmlns:a16="http://schemas.microsoft.com/office/drawing/2014/main" id="{5E3C0A3E-16B7-4799-AEC3-552BE0E90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636" y="2263307"/>
            <a:ext cx="8154649" cy="1362075"/>
          </a:xfrm>
        </p:spPr>
        <p:txBody>
          <a:bodyPr>
            <a:normAutofit fontScale="90000"/>
          </a:bodyPr>
          <a:lstStyle/>
          <a:p>
            <a:pPr algn="ctr"/>
            <a:r>
              <a:rPr lang="it-IT" dirty="0"/>
              <a:t>Record particolari (PRIMO CASO): </a:t>
            </a:r>
            <a:br>
              <a:rPr lang="it-IT" dirty="0"/>
            </a:br>
            <a:r>
              <a:rPr lang="it-IT" dirty="0"/>
              <a:t>modelli di test e relativi </a:t>
            </a:r>
            <a:br>
              <a:rPr lang="it-IT" dirty="0"/>
            </a:br>
            <a:r>
              <a:rPr lang="it-IT" dirty="0"/>
              <a:t>sotto-record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333329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57200" y="475357"/>
            <a:ext cx="8229600" cy="581318"/>
          </a:xfrm>
        </p:spPr>
        <p:txBody>
          <a:bodyPr>
            <a:normAutofit fontScale="90000"/>
          </a:bodyPr>
          <a:lstStyle/>
          <a:p>
            <a:r>
              <a:rPr lang="it-IT" dirty="0"/>
              <a:t>Record particolare (modelli di test)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6907433D-6EFD-45F6-876C-60A61519091E}"/>
              </a:ext>
            </a:extLst>
          </p:cNvPr>
          <p:cNvSpPr txBox="1"/>
          <p:nvPr/>
        </p:nvSpPr>
        <p:spPr>
          <a:xfrm>
            <a:off x="899410" y="1879483"/>
            <a:ext cx="72852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La sezione «Record Form» di cui alla slide precedente differisce dalle classiche poiché i campi mostrati sono legati a due tabelle (invece che 1) </a:t>
            </a:r>
            <a:r>
              <a:rPr lang="it-IT" dirty="0" err="1"/>
              <a:t>modelli_test</a:t>
            </a:r>
            <a:r>
              <a:rPr lang="it-IT" dirty="0"/>
              <a:t> e </a:t>
            </a:r>
            <a:r>
              <a:rPr lang="it-IT" dirty="0" err="1"/>
              <a:t>modelli_test_vr</a:t>
            </a:r>
            <a:r>
              <a:rPr lang="it-IT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203075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57200" y="184698"/>
            <a:ext cx="8229600" cy="581318"/>
          </a:xfrm>
        </p:spPr>
        <p:txBody>
          <a:bodyPr>
            <a:normAutofit fontScale="90000"/>
          </a:bodyPr>
          <a:lstStyle/>
          <a:p>
            <a:r>
              <a:rPr lang="it-IT" dirty="0"/>
              <a:t>Record particolare (modelli di test)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6907433D-6EFD-45F6-876C-60A61519091E}"/>
              </a:ext>
            </a:extLst>
          </p:cNvPr>
          <p:cNvSpPr txBox="1"/>
          <p:nvPr/>
        </p:nvSpPr>
        <p:spPr>
          <a:xfrm>
            <a:off x="172386" y="956153"/>
            <a:ext cx="897161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Una delle tabelle sottostanti (domande) non visualizza, analogamente alle tabelle collegate, il classico inserimento di soli record a mo’ di lista(le domande del modello di test). Ciascuna riga (domanda) deve anche mostrare le risposte previste (tabella «</a:t>
            </a:r>
            <a:r>
              <a:rPr lang="it-IT" dirty="0" err="1"/>
              <a:t>risposte_previste</a:t>
            </a:r>
            <a:r>
              <a:rPr lang="it-IT" dirty="0"/>
              <a:t>») a associate a ciascuna domanda (vedi immagine sotto). Il set di risposte è selezionabile da un menù a tendina o diversamente se si vuole inserire risposte più dettagliate è necessario andare ne dettaglio della domanda (vedi slide successiva).</a:t>
            </a:r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9523CE57-D39B-42A5-A60D-C3F0C06BCD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692" y="2710479"/>
            <a:ext cx="7574226" cy="3962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3894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57200" y="184698"/>
            <a:ext cx="8229600" cy="581318"/>
          </a:xfrm>
        </p:spPr>
        <p:txBody>
          <a:bodyPr>
            <a:normAutofit fontScale="90000"/>
          </a:bodyPr>
          <a:lstStyle/>
          <a:p>
            <a:r>
              <a:rPr lang="it-IT" dirty="0"/>
              <a:t>Record di dettaglio della domanda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6907433D-6EFD-45F6-876C-60A61519091E}"/>
              </a:ext>
            </a:extLst>
          </p:cNvPr>
          <p:cNvSpPr txBox="1"/>
          <p:nvPr/>
        </p:nvSpPr>
        <p:spPr>
          <a:xfrm>
            <a:off x="172386" y="956153"/>
            <a:ext cx="89716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Nel record di dettaglio della domanda è possibile inserire molti dettagli sulla domanda stessa tra cui set di risposte non standard.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16D8FB50-14E8-4BD9-AF67-7AE8AE8D02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279" y="1792621"/>
            <a:ext cx="8229600" cy="4629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0457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3">
            <a:extLst>
              <a:ext uri="{FF2B5EF4-FFF2-40B4-BE49-F238E27FC236}">
                <a16:creationId xmlns:a16="http://schemas.microsoft.com/office/drawing/2014/main" id="{5E3C0A3E-16B7-4799-AEC3-552BE0E90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9626" y="2066925"/>
            <a:ext cx="7925087" cy="1362075"/>
          </a:xfrm>
        </p:spPr>
        <p:txBody>
          <a:bodyPr>
            <a:normAutofit fontScale="90000"/>
          </a:bodyPr>
          <a:lstStyle/>
          <a:p>
            <a:pPr algn="ctr"/>
            <a:r>
              <a:rPr lang="it-IT" dirty="0"/>
              <a:t>Record particolari (SECONDO CASO): </a:t>
            </a:r>
            <a:br>
              <a:rPr lang="it-IT" dirty="0"/>
            </a:br>
            <a:r>
              <a:rPr lang="it-IT" dirty="0"/>
              <a:t>SONDAGGI  E RELATIVE RISPOSTE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346056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72386" y="184698"/>
            <a:ext cx="8514414" cy="581318"/>
          </a:xfrm>
        </p:spPr>
        <p:txBody>
          <a:bodyPr>
            <a:normAutofit fontScale="90000"/>
          </a:bodyPr>
          <a:lstStyle/>
          <a:p>
            <a:r>
              <a:rPr lang="it-IT" dirty="0"/>
              <a:t>Record particolare (risposte ai sondaggi)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6907433D-6EFD-45F6-876C-60A61519091E}"/>
              </a:ext>
            </a:extLst>
          </p:cNvPr>
          <p:cNvSpPr txBox="1"/>
          <p:nvPr/>
        </p:nvSpPr>
        <p:spPr>
          <a:xfrm>
            <a:off x="172386" y="956153"/>
            <a:ext cx="897161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Le risposte ai sondaggi (tabella «risposte») sono alimentate tramite un radio botton tramite il quale selezionare tutte tra tutte le risposte previste a quella domanda (tabella «</a:t>
            </a:r>
            <a:r>
              <a:rPr lang="it-IT" dirty="0" err="1"/>
              <a:t>Risposte_previste</a:t>
            </a:r>
            <a:r>
              <a:rPr lang="it-IT" dirty="0"/>
              <a:t>»). E’ necessario anche che la rispostasi colori sulla base della correttezza o meno della risposta (definita in altra tabella di configurazione).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6D46A56E-D023-4E67-96A6-30D05C7FFC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440" y="2218545"/>
            <a:ext cx="7304667" cy="3357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27180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72386" y="205533"/>
            <a:ext cx="8791732" cy="1095393"/>
          </a:xfrm>
        </p:spPr>
        <p:txBody>
          <a:bodyPr>
            <a:normAutofit fontScale="90000"/>
          </a:bodyPr>
          <a:lstStyle/>
          <a:p>
            <a:r>
              <a:rPr lang="it-IT" dirty="0"/>
              <a:t>Record particolare (sondaggi, somministrazioni e modelli test)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6907433D-6EFD-45F6-876C-60A61519091E}"/>
              </a:ext>
            </a:extLst>
          </p:cNvPr>
          <p:cNvSpPr txBox="1"/>
          <p:nvPr/>
        </p:nvSpPr>
        <p:spPr>
          <a:xfrm>
            <a:off x="172387" y="1570750"/>
            <a:ext cx="8971613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La modificabilità/ </a:t>
            </a:r>
            <a:r>
              <a:rPr lang="it-IT" dirty="0" err="1"/>
              <a:t>visualizzabilità</a:t>
            </a:r>
            <a:r>
              <a:rPr lang="it-IT" dirty="0"/>
              <a:t> dei singoli record è una funzione: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Nel caso dei sondaggi la </a:t>
            </a:r>
            <a:r>
              <a:rPr lang="it-IT" dirty="0" err="1"/>
              <a:t>visualizzabilità</a:t>
            </a:r>
            <a:r>
              <a:rPr lang="it-IT" dirty="0"/>
              <a:t> è legata a: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Ufficio di appartenenza dell’utente (per poter modificare il sondaggio l’utente deve o a) appartenere all’ufficio proprietario del sondaggio oppure b) l’ufficio al quale appartiene il cliente deve essere un ufficio supervisore dei sondaggi (c’è un flag apposta)).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Stato del sondaggio (aperto/ chiuso).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Nel caso dei modelli di test la </a:t>
            </a:r>
            <a:r>
              <a:rPr lang="it-IT" dirty="0" err="1"/>
              <a:t>visualizzabilità</a:t>
            </a:r>
            <a:r>
              <a:rPr lang="it-IT" dirty="0"/>
              <a:t> è legata a: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Ufficio di appartenenza dell’utente (per poter modificare il modello di test l’utente deve o a) appartenere all’ufficio proprietario del modello di test oppure b) l’ufficio al quale appartiene il cliente deve essere un ufficio supervisore dei modelli di test (c’è un flag apposta)).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Stato dei sondaggi (aperto/ chiuso) collegati a quella versione del modello di test.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52488080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235</TotalTime>
  <Words>613</Words>
  <Application>Microsoft Office PowerPoint</Application>
  <PresentationFormat>Presentazione su schermo (4:3)</PresentationFormat>
  <Paragraphs>130</Paragraphs>
  <Slides>12</Slides>
  <Notes>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12</vt:i4>
      </vt:variant>
    </vt:vector>
  </HeadingPairs>
  <TitlesOfParts>
    <vt:vector size="17" baseType="lpstr">
      <vt:lpstr>ＭＳ ゴシック</vt:lpstr>
      <vt:lpstr>Arial</vt:lpstr>
      <vt:lpstr>Calibri</vt:lpstr>
      <vt:lpstr>Wingdings</vt:lpstr>
      <vt:lpstr>Tema di Office</vt:lpstr>
      <vt:lpstr>Vista iniziale</vt:lpstr>
      <vt:lpstr>Vista principale</vt:lpstr>
      <vt:lpstr>Table</vt:lpstr>
      <vt:lpstr>Generic record (record detail)</vt:lpstr>
      <vt:lpstr>Generic record (record detail/ element)</vt:lpstr>
      <vt:lpstr>Record particolari (PRIMO CASO):  modelli di test e relativi  sotto-record</vt:lpstr>
      <vt:lpstr>Record particolare (modelli di test)</vt:lpstr>
      <vt:lpstr>Record particolare (modelli di test)</vt:lpstr>
      <vt:lpstr>Record di dettaglio della domanda</vt:lpstr>
      <vt:lpstr>Record particolari (SECONDO CASO):  SONDAGGI  E RELATIVE RISPOSTE</vt:lpstr>
      <vt:lpstr>Record particolare (risposte ai sondaggi)</vt:lpstr>
      <vt:lpstr>Record particolare (sondaggi, somministrazioni e modelli test)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di PowerPoint</dc:title>
  <dc:creator>Nicola Capovilla</dc:creator>
  <cp:lastModifiedBy>Amedeo Poli</cp:lastModifiedBy>
  <cp:revision>20</cp:revision>
  <dcterms:created xsi:type="dcterms:W3CDTF">2018-08-13T07:59:26Z</dcterms:created>
  <dcterms:modified xsi:type="dcterms:W3CDTF">2019-04-01T07:23:05Z</dcterms:modified>
</cp:coreProperties>
</file>