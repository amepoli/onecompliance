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1" r:id="rId6"/>
  </p:sldIdLst>
  <p:sldSz cx="9144000" cy="6858000" type="screen4x3"/>
  <p:notesSz cx="6858000" cy="9144000"/>
  <p:defaultTextStyle>
    <a:defPPr>
      <a:defRPr lang="it-IT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-1208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interSettings" Target="printerSettings/printerSettings1.bin"/><Relationship Id="rId9" Type="http://schemas.openxmlformats.org/officeDocument/2006/relationships/presProps" Target="presProps.xml"/><Relationship Id="rId1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B3AC5C-49EA-8C43-A1F1-4AE9F44B070A}" type="datetimeFigureOut">
              <a:rPr lang="it-IT" smtClean="0"/>
              <a:t>14/08/18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 smtClean="0"/>
              <a:t>Fare clic per modificare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5C8C2B-EA7C-9543-B805-0B5BC93E4FF7}" type="slidenum">
              <a:rPr lang="it-IT" smtClean="0"/>
              <a:t>‹n.›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29996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5C8C2B-EA7C-9543-B805-0B5BC93E4FF7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253623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smtClean="0"/>
              <a:t>Ogni riga è selezionabile e</a:t>
            </a:r>
            <a:r>
              <a:rPr lang="it-IT" baseline="0" dirty="0" smtClean="0"/>
              <a:t> dà accesso al singolo record.</a:t>
            </a:r>
          </a:p>
          <a:p>
            <a:r>
              <a:rPr lang="it-IT" baseline="0" dirty="0" smtClean="0"/>
              <a:t>Una tabella espone TUTTI i record a cui l’utente è abilitato e relativi alla voce selezionata sul menu di </a:t>
            </a:r>
            <a:r>
              <a:rPr lang="it-IT" baseline="0" dirty="0" err="1" smtClean="0"/>
              <a:t>sx</a:t>
            </a:r>
            <a:r>
              <a:rPr lang="it-IT" baseline="0" dirty="0" smtClean="0"/>
              <a:t> (previo eventuale filtro attivo).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5C8C2B-EA7C-9543-B805-0B5BC93E4FF7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27677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 smtClean="0"/>
              <a:t>Fare clic per modificare stile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30D5F-A28A-9D43-B05A-DDA8B16E939A}" type="datetimeFigureOut">
              <a:rPr lang="it-IT" smtClean="0"/>
              <a:t>14/08/18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D010B-0BA5-CA41-ABDD-7D9A9BA0872B}" type="slidenum">
              <a:rPr lang="it-IT" smtClean="0"/>
              <a:t>‹n.›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90672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stile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30D5F-A28A-9D43-B05A-DDA8B16E939A}" type="datetimeFigureOut">
              <a:rPr lang="it-IT" smtClean="0"/>
              <a:t>14/08/18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D010B-0BA5-CA41-ABDD-7D9A9BA0872B}" type="slidenum">
              <a:rPr lang="it-IT" smtClean="0"/>
              <a:t>‹n.›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74463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stile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gli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30D5F-A28A-9D43-B05A-DDA8B16E939A}" type="datetimeFigureOut">
              <a:rPr lang="it-IT" smtClean="0"/>
              <a:t>14/08/18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D010B-0BA5-CA41-ABDD-7D9A9BA0872B}" type="slidenum">
              <a:rPr lang="it-IT" smtClean="0"/>
              <a:t>‹n.›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86548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stile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30D5F-A28A-9D43-B05A-DDA8B16E939A}" type="datetimeFigureOut">
              <a:rPr lang="it-IT" smtClean="0"/>
              <a:t>14/08/18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D010B-0BA5-CA41-ABDD-7D9A9BA0872B}" type="slidenum">
              <a:rPr lang="it-IT" smtClean="0"/>
              <a:t>‹n.›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64452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stile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30D5F-A28A-9D43-B05A-DDA8B16E939A}" type="datetimeFigureOut">
              <a:rPr lang="it-IT" smtClean="0"/>
              <a:t>14/08/18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D010B-0BA5-CA41-ABDD-7D9A9BA0872B}" type="slidenum">
              <a:rPr lang="it-IT" smtClean="0"/>
              <a:t>‹n.›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31200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stile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30D5F-A28A-9D43-B05A-DDA8B16E939A}" type="datetimeFigureOut">
              <a:rPr lang="it-IT" smtClean="0"/>
              <a:t>14/08/18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D010B-0BA5-CA41-ABDD-7D9A9BA0872B}" type="slidenum">
              <a:rPr lang="it-IT" smtClean="0"/>
              <a:t>‹n.›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44489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30D5F-A28A-9D43-B05A-DDA8B16E939A}" type="datetimeFigureOut">
              <a:rPr lang="it-IT" smtClean="0"/>
              <a:t>14/08/18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D010B-0BA5-CA41-ABDD-7D9A9BA0872B}" type="slidenum">
              <a:rPr lang="it-IT" smtClean="0"/>
              <a:t>‹n.›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12273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stile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30D5F-A28A-9D43-B05A-DDA8B16E939A}" type="datetimeFigureOut">
              <a:rPr lang="it-IT" smtClean="0"/>
              <a:t>14/08/18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D010B-0BA5-CA41-ABDD-7D9A9BA0872B}" type="slidenum">
              <a:rPr lang="it-IT" smtClean="0"/>
              <a:t>‹n.›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74252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stile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30D5F-A28A-9D43-B05A-DDA8B16E939A}" type="datetimeFigureOut">
              <a:rPr lang="it-IT" smtClean="0"/>
              <a:t>14/08/18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D010B-0BA5-CA41-ABDD-7D9A9BA0872B}" type="slidenum">
              <a:rPr lang="it-IT" smtClean="0"/>
              <a:t>‹n.›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63716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stile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30D5F-A28A-9D43-B05A-DDA8B16E939A}" type="datetimeFigureOut">
              <a:rPr lang="it-IT" smtClean="0"/>
              <a:t>14/08/18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D010B-0BA5-CA41-ABDD-7D9A9BA0872B}" type="slidenum">
              <a:rPr lang="it-IT" smtClean="0"/>
              <a:t>‹n.›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73913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vertical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 smtClean="0"/>
              <a:t>Fare clic per modificare stile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 smtClean="0"/>
              <a:t>Fare clic per modificare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30D5F-A28A-9D43-B05A-DDA8B16E939A}" type="datetimeFigureOut">
              <a:rPr lang="it-IT" smtClean="0"/>
              <a:t>14/08/18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D010B-0BA5-CA41-ABDD-7D9A9BA0872B}" type="slidenum">
              <a:rPr lang="it-IT" smtClean="0"/>
              <a:t>‹n.›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95737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stile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230D5F-A28A-9D43-B05A-DDA8B16E939A}" type="datetimeFigureOut">
              <a:rPr lang="it-IT" smtClean="0"/>
              <a:t>14/08/18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ED010B-0BA5-CA41-ABDD-7D9A9BA0872B}" type="slidenum">
              <a:rPr lang="it-IT" smtClean="0"/>
              <a:t>‹n.›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04319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2.png"/><Relationship Id="rId9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2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227427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81318"/>
          </a:xfrm>
        </p:spPr>
        <p:txBody>
          <a:bodyPr>
            <a:normAutofit fontScale="90000"/>
          </a:bodyPr>
          <a:lstStyle/>
          <a:p>
            <a:r>
              <a:rPr lang="it-IT" dirty="0" smtClean="0"/>
              <a:t>Vista iniziale</a:t>
            </a:r>
            <a:endParaRPr lang="it-IT" dirty="0"/>
          </a:p>
        </p:txBody>
      </p:sp>
      <p:sp>
        <p:nvSpPr>
          <p:cNvPr id="4" name="Rettangolo 3"/>
          <p:cNvSpPr/>
          <p:nvPr/>
        </p:nvSpPr>
        <p:spPr>
          <a:xfrm>
            <a:off x="800682" y="1417638"/>
            <a:ext cx="7886118" cy="520911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smtClean="0"/>
              <a:t>                User Dashboard</a:t>
            </a:r>
            <a:endParaRPr lang="it-IT" dirty="0"/>
          </a:p>
        </p:txBody>
      </p:sp>
      <p:sp>
        <p:nvSpPr>
          <p:cNvPr id="5" name="Rettangolo 4"/>
          <p:cNvSpPr/>
          <p:nvPr/>
        </p:nvSpPr>
        <p:spPr>
          <a:xfrm>
            <a:off x="800682" y="855956"/>
            <a:ext cx="7886118" cy="56168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it-IT" dirty="0" err="1" smtClean="0"/>
              <a:t>Gorico</a:t>
            </a:r>
            <a:r>
              <a:rPr lang="it-IT" dirty="0" smtClean="0"/>
              <a:t>		Azienda 					        Amedeo Poli</a:t>
            </a:r>
            <a:endParaRPr lang="it-IT" dirty="0"/>
          </a:p>
        </p:txBody>
      </p:sp>
      <p:pic>
        <p:nvPicPr>
          <p:cNvPr id="6" name="Immagine 5" descr="Schermata 2018-08-13 alle 10.02.1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5398" y="922338"/>
            <a:ext cx="952500" cy="495300"/>
          </a:xfrm>
          <a:prstGeom prst="rect">
            <a:avLst/>
          </a:prstGeom>
        </p:spPr>
      </p:pic>
      <p:sp>
        <p:nvSpPr>
          <p:cNvPr id="9" name="Rettangolo 8"/>
          <p:cNvSpPr/>
          <p:nvPr/>
        </p:nvSpPr>
        <p:spPr>
          <a:xfrm>
            <a:off x="806566" y="1417638"/>
            <a:ext cx="1808438" cy="465253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 smtClean="0"/>
          </a:p>
          <a:p>
            <a:pPr algn="ctr"/>
            <a:endParaRPr lang="it-IT" dirty="0"/>
          </a:p>
          <a:p>
            <a:pPr algn="ctr"/>
            <a:endParaRPr lang="it-IT" dirty="0" smtClean="0"/>
          </a:p>
          <a:p>
            <a:pPr algn="ctr"/>
            <a:endParaRPr lang="it-IT" dirty="0"/>
          </a:p>
          <a:p>
            <a:pPr algn="ctr"/>
            <a:endParaRPr lang="it-IT" dirty="0" smtClean="0"/>
          </a:p>
          <a:p>
            <a:pPr algn="ctr"/>
            <a:endParaRPr lang="it-IT" dirty="0"/>
          </a:p>
          <a:p>
            <a:pPr algn="ctr"/>
            <a:endParaRPr lang="it-IT" dirty="0" smtClean="0"/>
          </a:p>
          <a:p>
            <a:pPr algn="ctr"/>
            <a:endParaRPr lang="it-IT" dirty="0"/>
          </a:p>
          <a:p>
            <a:pPr algn="ctr"/>
            <a:endParaRPr lang="it-IT" dirty="0" smtClean="0"/>
          </a:p>
          <a:p>
            <a:pPr algn="ctr"/>
            <a:endParaRPr lang="it-IT" dirty="0"/>
          </a:p>
          <a:p>
            <a:pPr algn="ctr"/>
            <a:endParaRPr lang="it-IT" dirty="0" smtClean="0"/>
          </a:p>
          <a:p>
            <a:pPr algn="ctr"/>
            <a:endParaRPr lang="it-IT" dirty="0"/>
          </a:p>
          <a:p>
            <a:pPr algn="ctr"/>
            <a:endParaRPr lang="it-IT" dirty="0" smtClean="0"/>
          </a:p>
          <a:p>
            <a:pPr algn="ctr"/>
            <a:endParaRPr lang="it-IT" dirty="0"/>
          </a:p>
          <a:p>
            <a:pPr algn="ctr"/>
            <a:endParaRPr lang="it-IT" dirty="0" smtClean="0"/>
          </a:p>
          <a:p>
            <a:pPr algn="ctr"/>
            <a:endParaRPr lang="it-IT" dirty="0"/>
          </a:p>
        </p:txBody>
      </p:sp>
      <p:sp>
        <p:nvSpPr>
          <p:cNvPr id="30" name="Rettangolo 29"/>
          <p:cNvSpPr/>
          <p:nvPr/>
        </p:nvSpPr>
        <p:spPr>
          <a:xfrm>
            <a:off x="806566" y="1417639"/>
            <a:ext cx="1808438" cy="46698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smtClean="0"/>
              <a:t>Processi</a:t>
            </a:r>
            <a:endParaRPr lang="it-IT" dirty="0"/>
          </a:p>
        </p:txBody>
      </p:sp>
      <p:sp>
        <p:nvSpPr>
          <p:cNvPr id="31" name="Rettangolo 30"/>
          <p:cNvSpPr/>
          <p:nvPr/>
        </p:nvSpPr>
        <p:spPr>
          <a:xfrm>
            <a:off x="806566" y="1884624"/>
            <a:ext cx="1808438" cy="46698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 smtClean="0"/>
              <a:t>Workflow</a:t>
            </a:r>
            <a:endParaRPr lang="it-IT" dirty="0"/>
          </a:p>
        </p:txBody>
      </p:sp>
      <p:sp>
        <p:nvSpPr>
          <p:cNvPr id="32" name="Rettangolo 31"/>
          <p:cNvSpPr/>
          <p:nvPr/>
        </p:nvSpPr>
        <p:spPr>
          <a:xfrm>
            <a:off x="806566" y="2351609"/>
            <a:ext cx="1808438" cy="46698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smtClean="0"/>
              <a:t>Presidi</a:t>
            </a:r>
            <a:endParaRPr lang="it-IT" dirty="0"/>
          </a:p>
        </p:txBody>
      </p:sp>
      <p:sp>
        <p:nvSpPr>
          <p:cNvPr id="33" name="Rettangolo 32"/>
          <p:cNvSpPr/>
          <p:nvPr/>
        </p:nvSpPr>
        <p:spPr>
          <a:xfrm>
            <a:off x="800682" y="2825172"/>
            <a:ext cx="1808438" cy="46698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smtClean="0"/>
              <a:t>Rischi</a:t>
            </a:r>
            <a:endParaRPr lang="it-IT" dirty="0"/>
          </a:p>
        </p:txBody>
      </p:sp>
      <p:sp>
        <p:nvSpPr>
          <p:cNvPr id="34" name="Rettangolo 33"/>
          <p:cNvSpPr/>
          <p:nvPr/>
        </p:nvSpPr>
        <p:spPr>
          <a:xfrm>
            <a:off x="806566" y="3298735"/>
            <a:ext cx="1808438" cy="46698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smtClean="0"/>
              <a:t>Segnalazioni</a:t>
            </a:r>
            <a:endParaRPr lang="it-IT" dirty="0"/>
          </a:p>
        </p:txBody>
      </p:sp>
      <p:sp>
        <p:nvSpPr>
          <p:cNvPr id="35" name="Rettangolo 34"/>
          <p:cNvSpPr/>
          <p:nvPr/>
        </p:nvSpPr>
        <p:spPr>
          <a:xfrm>
            <a:off x="800682" y="3766257"/>
            <a:ext cx="1808438" cy="46698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smtClean="0"/>
              <a:t>Questionari</a:t>
            </a:r>
            <a:endParaRPr lang="it-IT" dirty="0"/>
          </a:p>
        </p:txBody>
      </p:sp>
      <p:sp>
        <p:nvSpPr>
          <p:cNvPr id="36" name="Rettangolo 35"/>
          <p:cNvSpPr/>
          <p:nvPr/>
        </p:nvSpPr>
        <p:spPr>
          <a:xfrm>
            <a:off x="806566" y="4233242"/>
            <a:ext cx="1808438" cy="46698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 smtClean="0"/>
              <a:t>Checklist</a:t>
            </a:r>
            <a:endParaRPr lang="it-IT" dirty="0"/>
          </a:p>
        </p:txBody>
      </p:sp>
      <p:sp>
        <p:nvSpPr>
          <p:cNvPr id="37" name="Rettangolo 36"/>
          <p:cNvSpPr/>
          <p:nvPr/>
        </p:nvSpPr>
        <p:spPr>
          <a:xfrm>
            <a:off x="800682" y="4700227"/>
            <a:ext cx="1808438" cy="46698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smtClean="0"/>
              <a:t>Modulistica</a:t>
            </a:r>
            <a:endParaRPr lang="it-IT" dirty="0"/>
          </a:p>
        </p:txBody>
      </p:sp>
      <p:sp>
        <p:nvSpPr>
          <p:cNvPr id="38" name="Rettangolo 37"/>
          <p:cNvSpPr/>
          <p:nvPr/>
        </p:nvSpPr>
        <p:spPr>
          <a:xfrm>
            <a:off x="800682" y="5173790"/>
            <a:ext cx="1808438" cy="46698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smtClean="0"/>
              <a:t>Modelli di test</a:t>
            </a:r>
            <a:endParaRPr lang="it-IT" dirty="0"/>
          </a:p>
        </p:txBody>
      </p:sp>
      <p:sp>
        <p:nvSpPr>
          <p:cNvPr id="39" name="Rettangolo 38"/>
          <p:cNvSpPr/>
          <p:nvPr/>
        </p:nvSpPr>
        <p:spPr>
          <a:xfrm>
            <a:off x="800682" y="5603724"/>
            <a:ext cx="1808438" cy="46698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smtClean="0"/>
              <a:t>Sondaggi</a:t>
            </a:r>
            <a:endParaRPr lang="it-IT" dirty="0"/>
          </a:p>
        </p:txBody>
      </p:sp>
      <p:sp>
        <p:nvSpPr>
          <p:cNvPr id="40" name="Rettangolo 39"/>
          <p:cNvSpPr/>
          <p:nvPr/>
        </p:nvSpPr>
        <p:spPr>
          <a:xfrm>
            <a:off x="800682" y="6070709"/>
            <a:ext cx="1808438" cy="55604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smtClean="0"/>
              <a:t>Configurazioni &gt;</a:t>
            </a:r>
            <a:endParaRPr lang="it-IT" dirty="0"/>
          </a:p>
        </p:txBody>
      </p:sp>
      <p:pic>
        <p:nvPicPr>
          <p:cNvPr id="41" name="Immagine 4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3213" y="1028739"/>
            <a:ext cx="486294" cy="280933"/>
          </a:xfrm>
          <a:prstGeom prst="rect">
            <a:avLst/>
          </a:prstGeom>
        </p:spPr>
      </p:pic>
      <p:sp>
        <p:nvSpPr>
          <p:cNvPr id="42" name="Rettangolo 41"/>
          <p:cNvSpPr/>
          <p:nvPr/>
        </p:nvSpPr>
        <p:spPr>
          <a:xfrm>
            <a:off x="3037070" y="1028739"/>
            <a:ext cx="1996365" cy="28093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dirty="0" smtClean="0"/>
              <a:t>    </a:t>
            </a:r>
            <a:r>
              <a:rPr lang="it-IT" dirty="0" err="1" smtClean="0"/>
              <a:t>Alacritas</a:t>
            </a:r>
            <a:r>
              <a:rPr lang="it-IT" dirty="0" smtClean="0"/>
              <a:t>   </a:t>
            </a:r>
            <a:endParaRPr lang="it-IT" dirty="0"/>
          </a:p>
        </p:txBody>
      </p:sp>
      <p:pic>
        <p:nvPicPr>
          <p:cNvPr id="43" name="Immagine 4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7142" y="1040672"/>
            <a:ext cx="486294" cy="280933"/>
          </a:xfrm>
          <a:prstGeom prst="rect">
            <a:avLst/>
          </a:prstGeom>
        </p:spPr>
      </p:pic>
      <p:sp>
        <p:nvSpPr>
          <p:cNvPr id="44" name="Rettangolo 43"/>
          <p:cNvSpPr/>
          <p:nvPr/>
        </p:nvSpPr>
        <p:spPr>
          <a:xfrm>
            <a:off x="5781116" y="1351531"/>
            <a:ext cx="1328391" cy="71088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5" name="Rettangolo 44"/>
          <p:cNvSpPr/>
          <p:nvPr/>
        </p:nvSpPr>
        <p:spPr>
          <a:xfrm>
            <a:off x="5781116" y="1312092"/>
            <a:ext cx="1328391" cy="37516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smtClean="0"/>
              <a:t>User </a:t>
            </a:r>
            <a:r>
              <a:rPr lang="it-IT" dirty="0" err="1" smtClean="0"/>
              <a:t>Profile</a:t>
            </a:r>
            <a:endParaRPr lang="it-IT" dirty="0"/>
          </a:p>
        </p:txBody>
      </p:sp>
      <p:sp>
        <p:nvSpPr>
          <p:cNvPr id="46" name="Rettangolo 45"/>
          <p:cNvSpPr/>
          <p:nvPr/>
        </p:nvSpPr>
        <p:spPr>
          <a:xfrm>
            <a:off x="5781116" y="1687256"/>
            <a:ext cx="1328391" cy="37516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smtClean="0">
                <a:latin typeface="ＭＳ ゴシック"/>
                <a:ea typeface="ＭＳ ゴシック"/>
                <a:cs typeface="ＭＳ ゴシック"/>
              </a:rPr>
              <a:t>Dashboard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53263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81318"/>
          </a:xfrm>
        </p:spPr>
        <p:txBody>
          <a:bodyPr>
            <a:normAutofit fontScale="90000"/>
          </a:bodyPr>
          <a:lstStyle/>
          <a:p>
            <a:r>
              <a:rPr lang="it-IT" dirty="0" smtClean="0"/>
              <a:t>Vista principale</a:t>
            </a:r>
            <a:endParaRPr lang="it-IT" dirty="0"/>
          </a:p>
        </p:txBody>
      </p:sp>
      <p:sp>
        <p:nvSpPr>
          <p:cNvPr id="4" name="Rettangolo 3"/>
          <p:cNvSpPr/>
          <p:nvPr/>
        </p:nvSpPr>
        <p:spPr>
          <a:xfrm>
            <a:off x="800682" y="1417638"/>
            <a:ext cx="7886118" cy="520911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 smtClean="0"/>
              <a:t>Table</a:t>
            </a:r>
            <a:endParaRPr lang="it-IT" dirty="0" smtClean="0"/>
          </a:p>
          <a:p>
            <a:pPr algn="ctr"/>
            <a:endParaRPr lang="it-IT" dirty="0"/>
          </a:p>
          <a:p>
            <a:pPr algn="ctr"/>
            <a:endParaRPr lang="it-IT" dirty="0" smtClean="0"/>
          </a:p>
          <a:p>
            <a:pPr algn="ctr"/>
            <a:endParaRPr lang="it-IT" dirty="0"/>
          </a:p>
          <a:p>
            <a:pPr algn="ctr"/>
            <a:endParaRPr lang="it-IT" dirty="0"/>
          </a:p>
        </p:txBody>
      </p:sp>
      <p:sp>
        <p:nvSpPr>
          <p:cNvPr id="5" name="Rettangolo 4"/>
          <p:cNvSpPr/>
          <p:nvPr/>
        </p:nvSpPr>
        <p:spPr>
          <a:xfrm>
            <a:off x="800682" y="855956"/>
            <a:ext cx="7886118" cy="56168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it-IT" dirty="0" err="1" smtClean="0"/>
              <a:t>Gorico</a:t>
            </a:r>
            <a:r>
              <a:rPr lang="it-IT" dirty="0" smtClean="0"/>
              <a:t>		Azienda 					        Amedeo Poli</a:t>
            </a:r>
            <a:endParaRPr lang="it-IT" dirty="0"/>
          </a:p>
        </p:txBody>
      </p:sp>
      <p:pic>
        <p:nvPicPr>
          <p:cNvPr id="6" name="Immagine 5" descr="Schermata 2018-08-13 alle 10.02.1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5398" y="922338"/>
            <a:ext cx="952500" cy="495300"/>
          </a:xfrm>
          <a:prstGeom prst="rect">
            <a:avLst/>
          </a:prstGeom>
        </p:spPr>
      </p:pic>
      <p:sp>
        <p:nvSpPr>
          <p:cNvPr id="7" name="Rettangolo 6"/>
          <p:cNvSpPr/>
          <p:nvPr/>
        </p:nvSpPr>
        <p:spPr>
          <a:xfrm>
            <a:off x="2609120" y="1417639"/>
            <a:ext cx="6075290" cy="55658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8" name="Immagine 7" descr="Schermata 2018-08-13 alle 10.04.23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8470" y="1466801"/>
            <a:ext cx="457200" cy="457200"/>
          </a:xfrm>
          <a:prstGeom prst="rect">
            <a:avLst/>
          </a:prstGeom>
        </p:spPr>
      </p:pic>
      <p:sp>
        <p:nvSpPr>
          <p:cNvPr id="9" name="Rettangolo 8"/>
          <p:cNvSpPr/>
          <p:nvPr/>
        </p:nvSpPr>
        <p:spPr>
          <a:xfrm>
            <a:off x="800682" y="1457014"/>
            <a:ext cx="1808438" cy="516973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 smtClean="0"/>
          </a:p>
          <a:p>
            <a:pPr algn="ctr"/>
            <a:endParaRPr lang="it-IT" dirty="0"/>
          </a:p>
          <a:p>
            <a:pPr algn="ctr"/>
            <a:endParaRPr lang="it-IT" dirty="0" smtClean="0"/>
          </a:p>
          <a:p>
            <a:pPr algn="ctr"/>
            <a:endParaRPr lang="it-IT" dirty="0"/>
          </a:p>
          <a:p>
            <a:pPr algn="ctr"/>
            <a:endParaRPr lang="it-IT" dirty="0" smtClean="0"/>
          </a:p>
          <a:p>
            <a:pPr algn="ctr"/>
            <a:endParaRPr lang="it-IT" dirty="0"/>
          </a:p>
          <a:p>
            <a:pPr algn="ctr"/>
            <a:endParaRPr lang="it-IT" dirty="0" smtClean="0"/>
          </a:p>
          <a:p>
            <a:pPr algn="ctr"/>
            <a:endParaRPr lang="it-IT" dirty="0"/>
          </a:p>
          <a:p>
            <a:pPr algn="ctr"/>
            <a:endParaRPr lang="it-IT" dirty="0" smtClean="0"/>
          </a:p>
          <a:p>
            <a:pPr algn="ctr"/>
            <a:endParaRPr lang="it-IT" dirty="0"/>
          </a:p>
          <a:p>
            <a:pPr algn="ctr"/>
            <a:endParaRPr lang="it-IT" dirty="0" smtClean="0"/>
          </a:p>
          <a:p>
            <a:pPr algn="ctr"/>
            <a:endParaRPr lang="it-IT" dirty="0"/>
          </a:p>
          <a:p>
            <a:pPr algn="ctr"/>
            <a:endParaRPr lang="it-IT" dirty="0" smtClean="0"/>
          </a:p>
          <a:p>
            <a:pPr algn="ctr"/>
            <a:endParaRPr lang="it-IT" dirty="0"/>
          </a:p>
          <a:p>
            <a:pPr algn="ctr"/>
            <a:endParaRPr lang="it-IT" dirty="0" smtClean="0"/>
          </a:p>
          <a:p>
            <a:pPr algn="ctr"/>
            <a:endParaRPr lang="it-IT" dirty="0"/>
          </a:p>
        </p:txBody>
      </p:sp>
      <p:pic>
        <p:nvPicPr>
          <p:cNvPr id="11" name="Immagine 10" descr="Schermata 2018-08-13 alle 10.04.04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2210" y="1456142"/>
            <a:ext cx="457200" cy="457200"/>
          </a:xfrm>
          <a:prstGeom prst="rect">
            <a:avLst/>
          </a:prstGeom>
        </p:spPr>
      </p:pic>
      <p:pic>
        <p:nvPicPr>
          <p:cNvPr id="16" name="Immagin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5182" y="1466801"/>
            <a:ext cx="1120432" cy="548496"/>
          </a:xfrm>
          <a:prstGeom prst="rect">
            <a:avLst/>
          </a:prstGeom>
        </p:spPr>
      </p:pic>
      <p:pic>
        <p:nvPicPr>
          <p:cNvPr id="13" name="Immagin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0692" y="1456142"/>
            <a:ext cx="517206" cy="517206"/>
          </a:xfrm>
          <a:prstGeom prst="rect">
            <a:avLst/>
          </a:prstGeom>
        </p:spPr>
      </p:pic>
      <p:sp>
        <p:nvSpPr>
          <p:cNvPr id="17" name="Rettangolo 16"/>
          <p:cNvSpPr/>
          <p:nvPr/>
        </p:nvSpPr>
        <p:spPr>
          <a:xfrm>
            <a:off x="2609120" y="1974221"/>
            <a:ext cx="6077680" cy="60745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it-IT" dirty="0"/>
              <a:t> </a:t>
            </a:r>
            <a:r>
              <a:rPr lang="it-IT" dirty="0" smtClean="0"/>
              <a:t>__</a:t>
            </a:r>
            <a:r>
              <a:rPr lang="it-IT" i="1" u="sng" dirty="0" smtClean="0"/>
              <a:t>Filtro__</a:t>
            </a:r>
            <a:r>
              <a:rPr lang="it-IT" dirty="0" smtClean="0"/>
              <a:t>              </a:t>
            </a:r>
            <a:endParaRPr lang="it-IT" dirty="0"/>
          </a:p>
        </p:txBody>
      </p:sp>
      <p:pic>
        <p:nvPicPr>
          <p:cNvPr id="22" name="Immagine 21" descr="Schermata 2018-08-13 alle 10.04.34.pn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4516" y="1457015"/>
            <a:ext cx="469365" cy="456327"/>
          </a:xfrm>
          <a:prstGeom prst="rect">
            <a:avLst/>
          </a:prstGeom>
        </p:spPr>
      </p:pic>
      <p:pic>
        <p:nvPicPr>
          <p:cNvPr id="23" name="Immagine 2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51604" y="2160273"/>
            <a:ext cx="486294" cy="280933"/>
          </a:xfrm>
          <a:prstGeom prst="rect">
            <a:avLst/>
          </a:prstGeom>
        </p:spPr>
      </p:pic>
      <p:sp>
        <p:nvSpPr>
          <p:cNvPr id="24" name="Rettangolo 23"/>
          <p:cNvSpPr/>
          <p:nvPr/>
        </p:nvSpPr>
        <p:spPr>
          <a:xfrm>
            <a:off x="7109507" y="2441206"/>
            <a:ext cx="1328391" cy="112361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5" name="Rettangolo 24"/>
          <p:cNvSpPr/>
          <p:nvPr/>
        </p:nvSpPr>
        <p:spPr>
          <a:xfrm>
            <a:off x="7109507" y="2441206"/>
            <a:ext cx="1328391" cy="37516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smtClean="0">
                <a:latin typeface="Wingdings"/>
                <a:ea typeface="Wingdings"/>
                <a:cs typeface="Wingdings"/>
                <a:sym typeface="Wingdings"/>
              </a:rPr>
              <a:t></a:t>
            </a:r>
            <a:r>
              <a:rPr lang="it-IT" dirty="0" smtClean="0"/>
              <a:t>Column1</a:t>
            </a:r>
            <a:endParaRPr lang="it-IT" dirty="0"/>
          </a:p>
        </p:txBody>
      </p:sp>
      <p:sp>
        <p:nvSpPr>
          <p:cNvPr id="26" name="Rettangolo 25"/>
          <p:cNvSpPr/>
          <p:nvPr/>
        </p:nvSpPr>
        <p:spPr>
          <a:xfrm>
            <a:off x="7109507" y="2816370"/>
            <a:ext cx="1328391" cy="37516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smtClean="0">
                <a:latin typeface="ＭＳ ゴシック"/>
                <a:ea typeface="ＭＳ ゴシック"/>
                <a:cs typeface="ＭＳ ゴシック"/>
              </a:rPr>
              <a:t>☐</a:t>
            </a:r>
            <a:r>
              <a:rPr lang="it-IT" dirty="0" err="1" smtClean="0"/>
              <a:t>Column</a:t>
            </a:r>
            <a:r>
              <a:rPr lang="it-IT" dirty="0" smtClean="0"/>
              <a:t> 2</a:t>
            </a:r>
            <a:endParaRPr lang="it-IT" dirty="0"/>
          </a:p>
        </p:txBody>
      </p:sp>
      <p:sp>
        <p:nvSpPr>
          <p:cNvPr id="27" name="Rettangolo 26"/>
          <p:cNvSpPr/>
          <p:nvPr/>
        </p:nvSpPr>
        <p:spPr>
          <a:xfrm>
            <a:off x="7109507" y="3189661"/>
            <a:ext cx="1328391" cy="37516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smtClean="0">
                <a:latin typeface="Wingdings"/>
                <a:ea typeface="Wingdings"/>
                <a:cs typeface="Wingdings"/>
                <a:sym typeface="Wingdings"/>
              </a:rPr>
              <a:t></a:t>
            </a:r>
            <a:r>
              <a:rPr lang="it-IT" dirty="0" err="1" smtClean="0"/>
              <a:t>Column</a:t>
            </a:r>
            <a:r>
              <a:rPr lang="it-IT" dirty="0" smtClean="0"/>
              <a:t> 3</a:t>
            </a:r>
            <a:endParaRPr lang="it-IT" dirty="0"/>
          </a:p>
        </p:txBody>
      </p:sp>
      <p:sp>
        <p:nvSpPr>
          <p:cNvPr id="30" name="Rettangolo 29"/>
          <p:cNvSpPr/>
          <p:nvPr/>
        </p:nvSpPr>
        <p:spPr>
          <a:xfrm>
            <a:off x="800682" y="1457016"/>
            <a:ext cx="1808438" cy="4669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smtClean="0"/>
              <a:t>Processi</a:t>
            </a:r>
            <a:endParaRPr lang="it-IT" dirty="0"/>
          </a:p>
        </p:txBody>
      </p:sp>
      <p:sp>
        <p:nvSpPr>
          <p:cNvPr id="31" name="Rettangolo 30"/>
          <p:cNvSpPr/>
          <p:nvPr/>
        </p:nvSpPr>
        <p:spPr>
          <a:xfrm>
            <a:off x="800682" y="1924001"/>
            <a:ext cx="1808438" cy="46698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 smtClean="0"/>
              <a:t>Workflow</a:t>
            </a:r>
            <a:endParaRPr lang="it-IT" dirty="0"/>
          </a:p>
        </p:txBody>
      </p:sp>
      <p:sp>
        <p:nvSpPr>
          <p:cNvPr id="32" name="Rettangolo 31"/>
          <p:cNvSpPr/>
          <p:nvPr/>
        </p:nvSpPr>
        <p:spPr>
          <a:xfrm>
            <a:off x="800682" y="2390986"/>
            <a:ext cx="1808438" cy="46698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smtClean="0"/>
              <a:t>Presidi</a:t>
            </a:r>
            <a:endParaRPr lang="it-IT" dirty="0"/>
          </a:p>
        </p:txBody>
      </p:sp>
      <p:sp>
        <p:nvSpPr>
          <p:cNvPr id="33" name="Rettangolo 32"/>
          <p:cNvSpPr/>
          <p:nvPr/>
        </p:nvSpPr>
        <p:spPr>
          <a:xfrm>
            <a:off x="794798" y="2864549"/>
            <a:ext cx="1808438" cy="46698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smtClean="0"/>
              <a:t>Rischi</a:t>
            </a:r>
            <a:endParaRPr lang="it-IT" dirty="0"/>
          </a:p>
        </p:txBody>
      </p:sp>
      <p:sp>
        <p:nvSpPr>
          <p:cNvPr id="34" name="Rettangolo 33"/>
          <p:cNvSpPr/>
          <p:nvPr/>
        </p:nvSpPr>
        <p:spPr>
          <a:xfrm>
            <a:off x="800682" y="3338112"/>
            <a:ext cx="1808438" cy="46698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smtClean="0"/>
              <a:t>Segnalazioni</a:t>
            </a:r>
            <a:endParaRPr lang="it-IT" dirty="0"/>
          </a:p>
        </p:txBody>
      </p:sp>
      <p:sp>
        <p:nvSpPr>
          <p:cNvPr id="35" name="Rettangolo 34"/>
          <p:cNvSpPr/>
          <p:nvPr/>
        </p:nvSpPr>
        <p:spPr>
          <a:xfrm>
            <a:off x="3235684" y="4668985"/>
            <a:ext cx="1808438" cy="46698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smtClean="0"/>
              <a:t>Questionari</a:t>
            </a:r>
            <a:endParaRPr lang="it-IT" dirty="0"/>
          </a:p>
        </p:txBody>
      </p:sp>
      <p:sp>
        <p:nvSpPr>
          <p:cNvPr id="36" name="Rettangolo 35"/>
          <p:cNvSpPr/>
          <p:nvPr/>
        </p:nvSpPr>
        <p:spPr>
          <a:xfrm>
            <a:off x="3241568" y="5135970"/>
            <a:ext cx="1808438" cy="46698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 smtClean="0"/>
              <a:t>Checklist</a:t>
            </a:r>
            <a:endParaRPr lang="it-IT" dirty="0"/>
          </a:p>
        </p:txBody>
      </p:sp>
      <p:sp>
        <p:nvSpPr>
          <p:cNvPr id="37" name="Rettangolo 36"/>
          <p:cNvSpPr/>
          <p:nvPr/>
        </p:nvSpPr>
        <p:spPr>
          <a:xfrm>
            <a:off x="3235684" y="5602955"/>
            <a:ext cx="1808438" cy="46698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smtClean="0"/>
              <a:t>Modulistica</a:t>
            </a:r>
            <a:endParaRPr lang="it-IT" dirty="0"/>
          </a:p>
        </p:txBody>
      </p:sp>
      <p:sp>
        <p:nvSpPr>
          <p:cNvPr id="38" name="Rettangolo 37"/>
          <p:cNvSpPr/>
          <p:nvPr/>
        </p:nvSpPr>
        <p:spPr>
          <a:xfrm>
            <a:off x="794798" y="3805633"/>
            <a:ext cx="1808438" cy="46698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smtClean="0"/>
              <a:t>Modelli di </a:t>
            </a:r>
            <a:r>
              <a:rPr lang="it-IT" dirty="0" smtClean="0"/>
              <a:t>test &gt;</a:t>
            </a:r>
            <a:endParaRPr lang="it-IT" dirty="0"/>
          </a:p>
        </p:txBody>
      </p:sp>
      <p:sp>
        <p:nvSpPr>
          <p:cNvPr id="39" name="Rettangolo 38"/>
          <p:cNvSpPr/>
          <p:nvPr/>
        </p:nvSpPr>
        <p:spPr>
          <a:xfrm>
            <a:off x="794798" y="4235567"/>
            <a:ext cx="1808438" cy="46698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smtClean="0"/>
              <a:t>Sondaggi &gt;</a:t>
            </a:r>
            <a:endParaRPr lang="it-IT" dirty="0"/>
          </a:p>
        </p:txBody>
      </p:sp>
      <p:sp>
        <p:nvSpPr>
          <p:cNvPr id="40" name="Rettangolo 39"/>
          <p:cNvSpPr/>
          <p:nvPr/>
        </p:nvSpPr>
        <p:spPr>
          <a:xfrm>
            <a:off x="794798" y="4702552"/>
            <a:ext cx="1808438" cy="51666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smtClean="0"/>
              <a:t>Configurazioni &gt;</a:t>
            </a:r>
            <a:endParaRPr lang="it-IT" dirty="0"/>
          </a:p>
        </p:txBody>
      </p:sp>
      <p:pic>
        <p:nvPicPr>
          <p:cNvPr id="41" name="Immagine 4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3213" y="1028739"/>
            <a:ext cx="486294" cy="280933"/>
          </a:xfrm>
          <a:prstGeom prst="rect">
            <a:avLst/>
          </a:prstGeom>
        </p:spPr>
      </p:pic>
      <p:sp>
        <p:nvSpPr>
          <p:cNvPr id="42" name="Rettangolo 41"/>
          <p:cNvSpPr/>
          <p:nvPr/>
        </p:nvSpPr>
        <p:spPr>
          <a:xfrm>
            <a:off x="3037070" y="1028739"/>
            <a:ext cx="1996365" cy="28093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dirty="0" smtClean="0"/>
              <a:t>    </a:t>
            </a:r>
            <a:r>
              <a:rPr lang="it-IT" dirty="0" err="1" smtClean="0"/>
              <a:t>Alacritas</a:t>
            </a:r>
            <a:r>
              <a:rPr lang="it-IT" dirty="0" smtClean="0"/>
              <a:t>   </a:t>
            </a:r>
            <a:endParaRPr lang="it-IT" dirty="0"/>
          </a:p>
        </p:txBody>
      </p:sp>
      <p:pic>
        <p:nvPicPr>
          <p:cNvPr id="43" name="Immagine 4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47142" y="1040672"/>
            <a:ext cx="486294" cy="280933"/>
          </a:xfrm>
          <a:prstGeom prst="rect">
            <a:avLst/>
          </a:prstGeom>
        </p:spPr>
      </p:pic>
      <p:pic>
        <p:nvPicPr>
          <p:cNvPr id="18" name="Immagine 17" descr="dashboard-icon.png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7028" y="1417638"/>
            <a:ext cx="495703" cy="495703"/>
          </a:xfrm>
          <a:prstGeom prst="rect">
            <a:avLst/>
          </a:prstGeom>
        </p:spPr>
      </p:pic>
      <p:cxnSp>
        <p:nvCxnSpPr>
          <p:cNvPr id="10" name="Connettore 2 9"/>
          <p:cNvCxnSpPr>
            <a:stCxn id="38" idx="3"/>
            <a:endCxn id="44" idx="1"/>
          </p:cNvCxnSpPr>
          <p:nvPr/>
        </p:nvCxnSpPr>
        <p:spPr>
          <a:xfrm>
            <a:off x="2603236" y="4039126"/>
            <a:ext cx="621761" cy="41931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ttore 2 13"/>
          <p:cNvCxnSpPr>
            <a:stCxn id="39" idx="3"/>
            <a:endCxn id="44" idx="1"/>
          </p:cNvCxnSpPr>
          <p:nvPr/>
        </p:nvCxnSpPr>
        <p:spPr>
          <a:xfrm flipV="1">
            <a:off x="2603236" y="4458437"/>
            <a:ext cx="621761" cy="1062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ttangolo 43"/>
          <p:cNvSpPr/>
          <p:nvPr/>
        </p:nvSpPr>
        <p:spPr>
          <a:xfrm>
            <a:off x="3224997" y="4224944"/>
            <a:ext cx="1808438" cy="46698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smtClean="0"/>
              <a:t>Generico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794675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it-IT" dirty="0" err="1" smtClean="0"/>
              <a:t>Table</a:t>
            </a:r>
            <a:endParaRPr lang="it-IT" dirty="0"/>
          </a:p>
        </p:txBody>
      </p:sp>
      <p:graphicFrame>
        <p:nvGraphicFramePr>
          <p:cNvPr id="4" name="Segnaposto contenut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9114794"/>
              </p:ext>
            </p:extLst>
          </p:nvPr>
        </p:nvGraphicFramePr>
        <p:xfrm>
          <a:off x="1382126" y="1862509"/>
          <a:ext cx="7053942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657"/>
                <a:gridCol w="1175657"/>
                <a:gridCol w="1175657"/>
                <a:gridCol w="1175657"/>
                <a:gridCol w="1175657"/>
                <a:gridCol w="117565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 err="1" smtClean="0"/>
                        <a:t>Column</a:t>
                      </a:r>
                      <a:r>
                        <a:rPr lang="it-IT" dirty="0" smtClean="0"/>
                        <a:t> 1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 err="1" smtClean="0"/>
                        <a:t>Column</a:t>
                      </a:r>
                      <a:r>
                        <a:rPr lang="it-IT" dirty="0" smtClean="0"/>
                        <a:t>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mr-IN" dirty="0" smtClean="0"/>
                        <a:t>…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it-IT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Rettangolo 12"/>
          <p:cNvSpPr/>
          <p:nvPr/>
        </p:nvSpPr>
        <p:spPr>
          <a:xfrm>
            <a:off x="1382126" y="2650702"/>
            <a:ext cx="7053942" cy="37275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5" name="Connettore 2 14"/>
          <p:cNvCxnSpPr/>
          <p:nvPr/>
        </p:nvCxnSpPr>
        <p:spPr>
          <a:xfrm flipV="1">
            <a:off x="621219" y="3023456"/>
            <a:ext cx="897317" cy="104923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asellaDiTesto 15"/>
          <p:cNvSpPr txBox="1"/>
          <p:nvPr/>
        </p:nvSpPr>
        <p:spPr>
          <a:xfrm>
            <a:off x="303707" y="4103727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smtClean="0"/>
              <a:t>Select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95337599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81318"/>
          </a:xfrm>
        </p:spPr>
        <p:txBody>
          <a:bodyPr>
            <a:normAutofit fontScale="90000"/>
          </a:bodyPr>
          <a:lstStyle/>
          <a:p>
            <a:r>
              <a:rPr lang="it-IT" dirty="0" err="1" smtClean="0"/>
              <a:t>Generic</a:t>
            </a:r>
            <a:r>
              <a:rPr lang="it-IT" dirty="0" smtClean="0"/>
              <a:t> record</a:t>
            </a:r>
            <a:endParaRPr lang="it-IT" dirty="0"/>
          </a:p>
        </p:txBody>
      </p:sp>
      <p:sp>
        <p:nvSpPr>
          <p:cNvPr id="4" name="Rettangolo 3"/>
          <p:cNvSpPr/>
          <p:nvPr/>
        </p:nvSpPr>
        <p:spPr>
          <a:xfrm>
            <a:off x="800682" y="1417638"/>
            <a:ext cx="7886118" cy="520911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 smtClean="0"/>
          </a:p>
          <a:p>
            <a:pPr algn="ctr"/>
            <a:endParaRPr lang="it-IT" dirty="0"/>
          </a:p>
          <a:p>
            <a:pPr algn="ctr"/>
            <a:endParaRPr lang="it-IT" dirty="0" smtClean="0"/>
          </a:p>
          <a:p>
            <a:pPr algn="ctr"/>
            <a:endParaRPr lang="it-IT" dirty="0"/>
          </a:p>
          <a:p>
            <a:pPr algn="ctr"/>
            <a:endParaRPr lang="it-IT" dirty="0"/>
          </a:p>
        </p:txBody>
      </p:sp>
      <p:sp>
        <p:nvSpPr>
          <p:cNvPr id="5" name="Rettangolo 4"/>
          <p:cNvSpPr/>
          <p:nvPr/>
        </p:nvSpPr>
        <p:spPr>
          <a:xfrm>
            <a:off x="800682" y="855956"/>
            <a:ext cx="7886118" cy="56168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it-IT" dirty="0" err="1" smtClean="0"/>
              <a:t>Gorico</a:t>
            </a:r>
            <a:r>
              <a:rPr lang="it-IT" dirty="0" smtClean="0"/>
              <a:t>		Azienda 					        Amedeo Poli</a:t>
            </a:r>
            <a:endParaRPr lang="it-IT" dirty="0"/>
          </a:p>
        </p:txBody>
      </p:sp>
      <p:pic>
        <p:nvPicPr>
          <p:cNvPr id="6" name="Immagine 5" descr="Schermata 2018-08-13 alle 10.02.1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5398" y="922338"/>
            <a:ext cx="952500" cy="495300"/>
          </a:xfrm>
          <a:prstGeom prst="rect">
            <a:avLst/>
          </a:prstGeom>
        </p:spPr>
      </p:pic>
      <p:sp>
        <p:nvSpPr>
          <p:cNvPr id="7" name="Rettangolo 6"/>
          <p:cNvSpPr/>
          <p:nvPr/>
        </p:nvSpPr>
        <p:spPr>
          <a:xfrm>
            <a:off x="2609120" y="1417639"/>
            <a:ext cx="6075290" cy="55658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8" name="Immagine 7" descr="Schermata 2018-08-13 alle 10.04.23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8470" y="1466801"/>
            <a:ext cx="457200" cy="457200"/>
          </a:xfrm>
          <a:prstGeom prst="rect">
            <a:avLst/>
          </a:prstGeom>
        </p:spPr>
      </p:pic>
      <p:sp>
        <p:nvSpPr>
          <p:cNvPr id="9" name="Rettangolo 8"/>
          <p:cNvSpPr/>
          <p:nvPr/>
        </p:nvSpPr>
        <p:spPr>
          <a:xfrm>
            <a:off x="800682" y="1457014"/>
            <a:ext cx="1808438" cy="516973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 smtClean="0"/>
          </a:p>
          <a:p>
            <a:pPr algn="ctr"/>
            <a:endParaRPr lang="it-IT" dirty="0"/>
          </a:p>
          <a:p>
            <a:pPr algn="ctr"/>
            <a:endParaRPr lang="it-IT" dirty="0" smtClean="0"/>
          </a:p>
          <a:p>
            <a:pPr algn="ctr"/>
            <a:endParaRPr lang="it-IT" dirty="0"/>
          </a:p>
          <a:p>
            <a:pPr algn="ctr"/>
            <a:endParaRPr lang="it-IT" dirty="0" smtClean="0"/>
          </a:p>
          <a:p>
            <a:pPr algn="ctr"/>
            <a:endParaRPr lang="it-IT" dirty="0"/>
          </a:p>
          <a:p>
            <a:pPr algn="ctr"/>
            <a:endParaRPr lang="it-IT" dirty="0" smtClean="0"/>
          </a:p>
          <a:p>
            <a:pPr algn="ctr"/>
            <a:endParaRPr lang="it-IT" dirty="0"/>
          </a:p>
          <a:p>
            <a:pPr algn="ctr"/>
            <a:endParaRPr lang="it-IT" dirty="0" smtClean="0"/>
          </a:p>
          <a:p>
            <a:pPr algn="ctr"/>
            <a:endParaRPr lang="it-IT" dirty="0"/>
          </a:p>
          <a:p>
            <a:pPr algn="ctr"/>
            <a:endParaRPr lang="it-IT" dirty="0" smtClean="0"/>
          </a:p>
          <a:p>
            <a:pPr algn="ctr"/>
            <a:endParaRPr lang="it-IT" dirty="0"/>
          </a:p>
          <a:p>
            <a:pPr algn="ctr"/>
            <a:endParaRPr lang="it-IT" dirty="0" smtClean="0"/>
          </a:p>
          <a:p>
            <a:pPr algn="ctr"/>
            <a:endParaRPr lang="it-IT" dirty="0"/>
          </a:p>
          <a:p>
            <a:pPr algn="ctr"/>
            <a:endParaRPr lang="it-IT" dirty="0" smtClean="0"/>
          </a:p>
          <a:p>
            <a:pPr algn="ctr"/>
            <a:endParaRPr lang="it-IT" dirty="0"/>
          </a:p>
        </p:txBody>
      </p:sp>
      <p:pic>
        <p:nvPicPr>
          <p:cNvPr id="11" name="Immagine 10" descr="Schermata 2018-08-13 alle 10.04.04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2210" y="1456142"/>
            <a:ext cx="457200" cy="457200"/>
          </a:xfrm>
          <a:prstGeom prst="rect">
            <a:avLst/>
          </a:prstGeom>
        </p:spPr>
      </p:pic>
      <p:pic>
        <p:nvPicPr>
          <p:cNvPr id="13" name="Immagin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9255" y="1456142"/>
            <a:ext cx="517206" cy="517206"/>
          </a:xfrm>
          <a:prstGeom prst="rect">
            <a:avLst/>
          </a:prstGeom>
        </p:spPr>
      </p:pic>
      <p:sp>
        <p:nvSpPr>
          <p:cNvPr id="17" name="Rettangolo 16"/>
          <p:cNvSpPr/>
          <p:nvPr/>
        </p:nvSpPr>
        <p:spPr>
          <a:xfrm>
            <a:off x="2609120" y="1974221"/>
            <a:ext cx="6077680" cy="60745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it-IT" dirty="0"/>
              <a:t> </a:t>
            </a:r>
          </a:p>
        </p:txBody>
      </p:sp>
      <p:pic>
        <p:nvPicPr>
          <p:cNvPr id="22" name="Immagine 21" descr="Schermata 2018-08-13 alle 10.04.34.p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4516" y="1457015"/>
            <a:ext cx="469365" cy="456327"/>
          </a:xfrm>
          <a:prstGeom prst="rect">
            <a:avLst/>
          </a:prstGeom>
        </p:spPr>
      </p:pic>
      <p:sp>
        <p:nvSpPr>
          <p:cNvPr id="30" name="Rettangolo 29"/>
          <p:cNvSpPr/>
          <p:nvPr/>
        </p:nvSpPr>
        <p:spPr>
          <a:xfrm>
            <a:off x="800682" y="1457016"/>
            <a:ext cx="1808438" cy="4669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smtClean="0"/>
              <a:t>Processi</a:t>
            </a:r>
            <a:endParaRPr lang="it-IT" dirty="0"/>
          </a:p>
        </p:txBody>
      </p:sp>
      <p:sp>
        <p:nvSpPr>
          <p:cNvPr id="31" name="Rettangolo 30"/>
          <p:cNvSpPr/>
          <p:nvPr/>
        </p:nvSpPr>
        <p:spPr>
          <a:xfrm>
            <a:off x="800682" y="1924001"/>
            <a:ext cx="1808438" cy="46698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 smtClean="0"/>
              <a:t>Workflow</a:t>
            </a:r>
            <a:endParaRPr lang="it-IT" dirty="0"/>
          </a:p>
        </p:txBody>
      </p:sp>
      <p:sp>
        <p:nvSpPr>
          <p:cNvPr id="32" name="Rettangolo 31"/>
          <p:cNvSpPr/>
          <p:nvPr/>
        </p:nvSpPr>
        <p:spPr>
          <a:xfrm>
            <a:off x="800682" y="2390986"/>
            <a:ext cx="1808438" cy="46698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smtClean="0"/>
              <a:t>Presidi</a:t>
            </a:r>
            <a:endParaRPr lang="it-IT" dirty="0"/>
          </a:p>
        </p:txBody>
      </p:sp>
      <p:sp>
        <p:nvSpPr>
          <p:cNvPr id="33" name="Rettangolo 32"/>
          <p:cNvSpPr/>
          <p:nvPr/>
        </p:nvSpPr>
        <p:spPr>
          <a:xfrm>
            <a:off x="794798" y="2864549"/>
            <a:ext cx="1808438" cy="46698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smtClean="0"/>
              <a:t>Rischi</a:t>
            </a:r>
            <a:endParaRPr lang="it-IT" dirty="0"/>
          </a:p>
        </p:txBody>
      </p:sp>
      <p:sp>
        <p:nvSpPr>
          <p:cNvPr id="34" name="Rettangolo 33"/>
          <p:cNvSpPr/>
          <p:nvPr/>
        </p:nvSpPr>
        <p:spPr>
          <a:xfrm>
            <a:off x="800682" y="3338112"/>
            <a:ext cx="1808438" cy="46698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smtClean="0"/>
              <a:t>Segnalazioni</a:t>
            </a:r>
            <a:endParaRPr lang="it-IT" dirty="0"/>
          </a:p>
        </p:txBody>
      </p:sp>
      <p:sp>
        <p:nvSpPr>
          <p:cNvPr id="38" name="Rettangolo 37"/>
          <p:cNvSpPr/>
          <p:nvPr/>
        </p:nvSpPr>
        <p:spPr>
          <a:xfrm>
            <a:off x="794798" y="3805633"/>
            <a:ext cx="1808438" cy="46698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smtClean="0"/>
              <a:t>Modelli di </a:t>
            </a:r>
            <a:r>
              <a:rPr lang="it-IT" dirty="0" smtClean="0"/>
              <a:t>test &gt;</a:t>
            </a:r>
            <a:endParaRPr lang="it-IT" dirty="0"/>
          </a:p>
        </p:txBody>
      </p:sp>
      <p:sp>
        <p:nvSpPr>
          <p:cNvPr id="39" name="Rettangolo 38"/>
          <p:cNvSpPr/>
          <p:nvPr/>
        </p:nvSpPr>
        <p:spPr>
          <a:xfrm>
            <a:off x="794798" y="4235567"/>
            <a:ext cx="1808438" cy="46698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smtClean="0"/>
              <a:t>Sondaggi &gt;</a:t>
            </a:r>
            <a:endParaRPr lang="it-IT" dirty="0"/>
          </a:p>
        </p:txBody>
      </p:sp>
      <p:sp>
        <p:nvSpPr>
          <p:cNvPr id="40" name="Rettangolo 39"/>
          <p:cNvSpPr/>
          <p:nvPr/>
        </p:nvSpPr>
        <p:spPr>
          <a:xfrm>
            <a:off x="794798" y="4702552"/>
            <a:ext cx="1808438" cy="51666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smtClean="0"/>
              <a:t>Configurazioni &gt;</a:t>
            </a:r>
            <a:endParaRPr lang="it-IT" dirty="0"/>
          </a:p>
        </p:txBody>
      </p:sp>
      <p:pic>
        <p:nvPicPr>
          <p:cNvPr id="41" name="Immagine 4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3213" y="1028739"/>
            <a:ext cx="486294" cy="280933"/>
          </a:xfrm>
          <a:prstGeom prst="rect">
            <a:avLst/>
          </a:prstGeom>
        </p:spPr>
      </p:pic>
      <p:sp>
        <p:nvSpPr>
          <p:cNvPr id="42" name="Rettangolo 41"/>
          <p:cNvSpPr/>
          <p:nvPr/>
        </p:nvSpPr>
        <p:spPr>
          <a:xfrm>
            <a:off x="3037070" y="1028739"/>
            <a:ext cx="1996365" cy="28093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dirty="0" smtClean="0"/>
              <a:t>    </a:t>
            </a:r>
            <a:r>
              <a:rPr lang="it-IT" dirty="0" err="1" smtClean="0"/>
              <a:t>Alacritas</a:t>
            </a:r>
            <a:r>
              <a:rPr lang="it-IT" dirty="0" smtClean="0"/>
              <a:t>   </a:t>
            </a:r>
            <a:endParaRPr lang="it-IT" dirty="0"/>
          </a:p>
        </p:txBody>
      </p:sp>
      <p:pic>
        <p:nvPicPr>
          <p:cNvPr id="43" name="Immagine 4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7142" y="1040672"/>
            <a:ext cx="486294" cy="280933"/>
          </a:xfrm>
          <a:prstGeom prst="rect">
            <a:avLst/>
          </a:prstGeom>
        </p:spPr>
      </p:pic>
      <p:pic>
        <p:nvPicPr>
          <p:cNvPr id="18" name="Immagine 17" descr="dashboard-icon.png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7028" y="1417638"/>
            <a:ext cx="495703" cy="495703"/>
          </a:xfrm>
          <a:prstGeom prst="rect">
            <a:avLst/>
          </a:prstGeom>
        </p:spPr>
      </p:pic>
      <p:sp>
        <p:nvSpPr>
          <p:cNvPr id="45" name="Rettangolo 44"/>
          <p:cNvSpPr/>
          <p:nvPr/>
        </p:nvSpPr>
        <p:spPr>
          <a:xfrm>
            <a:off x="2609120" y="2001833"/>
            <a:ext cx="1449511" cy="57984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smtClean="0"/>
              <a:t>&lt; Indietro</a:t>
            </a:r>
            <a:endParaRPr lang="it-IT" dirty="0"/>
          </a:p>
        </p:txBody>
      </p:sp>
      <p:sp>
        <p:nvSpPr>
          <p:cNvPr id="46" name="Rettangolo 45"/>
          <p:cNvSpPr/>
          <p:nvPr/>
        </p:nvSpPr>
        <p:spPr>
          <a:xfrm>
            <a:off x="4058631" y="2001832"/>
            <a:ext cx="2899023" cy="57984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smtClean="0"/>
              <a:t>|&lt;   &lt;   Record x di y   &gt;   &gt;|</a:t>
            </a:r>
            <a:endParaRPr lang="it-IT" dirty="0"/>
          </a:p>
        </p:txBody>
      </p:sp>
      <p:sp>
        <p:nvSpPr>
          <p:cNvPr id="47" name="Rettangolo 46"/>
          <p:cNvSpPr/>
          <p:nvPr/>
        </p:nvSpPr>
        <p:spPr>
          <a:xfrm>
            <a:off x="6957654" y="2001833"/>
            <a:ext cx="1726756" cy="57984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3" name="Immagine 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58685" y="2125755"/>
            <a:ext cx="557372" cy="358311"/>
          </a:xfrm>
          <a:prstGeom prst="rect">
            <a:avLst/>
          </a:prstGeom>
        </p:spPr>
      </p:pic>
      <p:pic>
        <p:nvPicPr>
          <p:cNvPr id="12" name="Immagin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03751" y="2088291"/>
            <a:ext cx="402543" cy="402543"/>
          </a:xfrm>
          <a:prstGeom prst="rect">
            <a:avLst/>
          </a:prstGeom>
        </p:spPr>
      </p:pic>
      <p:pic>
        <p:nvPicPr>
          <p:cNvPr id="15" name="Immagine 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16057" y="2088291"/>
            <a:ext cx="440007" cy="440007"/>
          </a:xfrm>
          <a:prstGeom prst="rect">
            <a:avLst/>
          </a:prstGeom>
        </p:spPr>
      </p:pic>
      <p:sp>
        <p:nvSpPr>
          <p:cNvPr id="19" name="Rettangolo 18"/>
          <p:cNvSpPr/>
          <p:nvPr/>
        </p:nvSpPr>
        <p:spPr>
          <a:xfrm>
            <a:off x="2609120" y="2581673"/>
            <a:ext cx="6075290" cy="22365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smtClean="0"/>
              <a:t>Record Form</a:t>
            </a:r>
            <a:endParaRPr lang="it-IT" dirty="0"/>
          </a:p>
        </p:txBody>
      </p:sp>
      <p:sp>
        <p:nvSpPr>
          <p:cNvPr id="20" name="CasellaDiTesto 19"/>
          <p:cNvSpPr txBox="1"/>
          <p:nvPr/>
        </p:nvSpPr>
        <p:spPr>
          <a:xfrm>
            <a:off x="3472210" y="5420464"/>
            <a:ext cx="38651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lphaLcPeriod"/>
            </a:pPr>
            <a:r>
              <a:rPr lang="it-IT" dirty="0" smtClean="0"/>
              <a:t>Links alle tabelle di record collegate</a:t>
            </a:r>
          </a:p>
          <a:p>
            <a:pPr marL="342900" indent="-342900">
              <a:buAutoNum type="alphaLcPeriod"/>
            </a:pPr>
            <a:r>
              <a:rPr lang="it-IT" dirty="0" err="1" smtClean="0"/>
              <a:t>Tab</a:t>
            </a:r>
            <a:r>
              <a:rPr lang="it-IT" dirty="0" smtClean="0"/>
              <a:t> con vista tabelle collegate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0405902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</TotalTime>
  <Words>149</Words>
  <Application>Microsoft Macintosh PowerPoint</Application>
  <PresentationFormat>Presentazione su schermo (4:3)</PresentationFormat>
  <Paragraphs>110</Paragraphs>
  <Slides>5</Slides>
  <Notes>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5</vt:i4>
      </vt:variant>
    </vt:vector>
  </HeadingPairs>
  <TitlesOfParts>
    <vt:vector size="6" baseType="lpstr">
      <vt:lpstr>Tema di Office</vt:lpstr>
      <vt:lpstr>Presentazione di PowerPoint</vt:lpstr>
      <vt:lpstr>Vista iniziale</vt:lpstr>
      <vt:lpstr>Vista principale</vt:lpstr>
      <vt:lpstr>Table</vt:lpstr>
      <vt:lpstr>Generic record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di PowerPoint</dc:title>
  <dc:creator>Nicola Capovilla</dc:creator>
  <cp:lastModifiedBy>Nicola Capovilla</cp:lastModifiedBy>
  <cp:revision>17</cp:revision>
  <dcterms:created xsi:type="dcterms:W3CDTF">2018-08-13T07:59:26Z</dcterms:created>
  <dcterms:modified xsi:type="dcterms:W3CDTF">2018-08-14T10:39:58Z</dcterms:modified>
</cp:coreProperties>
</file>